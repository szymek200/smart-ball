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9" r:id="rId3"/>
    <p:sldId id="271" r:id="rId4"/>
    <p:sldId id="270" r:id="rId5"/>
    <p:sldId id="272" r:id="rId6"/>
    <p:sldId id="273" r:id="rId7"/>
    <p:sldId id="274" r:id="rId8"/>
    <p:sldId id="268" r:id="rId9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116" autoAdjust="0"/>
    <p:restoredTop sz="94674"/>
  </p:normalViewPr>
  <p:slideViewPr>
    <p:cSldViewPr snapToGrid="0">
      <p:cViewPr varScale="1">
        <p:scale>
          <a:sx n="132" d="100"/>
          <a:sy n="132" d="100"/>
        </p:scale>
        <p:origin x="85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2759A3-CAA2-40DA-AA5E-716B696E05E3}" type="datetimeFigureOut">
              <a:rPr lang="pl-PL" smtClean="0"/>
              <a:t>6.05.2026</a:t>
            </a:fld>
            <a:endParaRPr lang="pl-P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l-P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7B9CAA-5604-43F1-94F3-B12E66300A0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13456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CB42D-2CA4-3042-1059-C52AE8DCD5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4702C3-0AB8-3359-9AAE-744700D50A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261B77-6312-7859-C3ED-2B96F2990E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6.05.2026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1DC8F5-AC9E-082C-DA2F-532EE9CFF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C6EA60-0ADB-7EEB-4753-764319D42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922356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79EB6-1A90-2652-9806-2D07DBBDC3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0028C5-5FCB-4003-F385-ED41C8B732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D11085-2AA7-D68B-D54A-FE1B10F31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6.05.2026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CB5DA3-5E0F-FE60-307E-A77E565A42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DA5324-D5F5-BAA1-F990-D152795AC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869720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B1367-66AA-69DE-D882-D4743F2115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381733-5EB8-4AE8-D69E-7232540337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D3B528-037C-E844-9032-081E82A26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6.05.2026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2DD8D0-3F91-1CA5-DA5F-7A3C95AF4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A5F827-78FB-291F-A6D9-98378B0A3C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920298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0B5E28-38FC-2979-0238-462577FE5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207380-0B32-955C-5951-B83C592B77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A55DF7-4710-6A09-E408-81F35AF10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9862C9-4B4C-D20B-DBC4-56764E675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6.05.2026</a:t>
            </a:fld>
            <a:endParaRPr lang="pl-P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1C2E03-E6D3-D5CA-41BE-9A711219F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D59CFC-50F5-C5A6-D0C7-5CD4191C68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859054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C00D01-8F3C-5C6B-9B57-2C6BC4721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66618F-734D-8080-3C09-56C683817F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7D17D4-263F-5F0C-A860-19D9D79B99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B46385D-1960-016A-8707-847FB16831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E565E7-785D-C417-3943-8DD6CDA431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890128-BD1C-80B9-0413-059F2DF581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6.05.2026</a:t>
            </a:fld>
            <a:endParaRPr lang="pl-P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B371D9-7455-6338-F2EC-782B20E37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F7E741-DD80-DEDD-4B26-59F7FB658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8403976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C217E-8D80-5558-1E36-3F0850740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244DB2-0C56-A630-81E8-70AB1C96B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6.05.2026</a:t>
            </a:fld>
            <a:endParaRPr lang="pl-P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CB50E4-93E9-9220-C5D1-385AE9579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D02A9C-43E0-ACA8-DCDE-CAD7EBAD3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347813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608B49-CBC6-525E-872D-8541E625A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6.05.2026</a:t>
            </a:fld>
            <a:endParaRPr lang="pl-P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06850B-2FFA-9E13-6A2A-3C1020F882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4693FA-B3A6-2E36-321A-5703CF04F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8571344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F90DE-6729-9061-5223-41283EE7B0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C4EA70-2E4F-7737-3435-1D80C13663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EE90FF-0867-6A5F-2A47-EFEFD2990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9D39A1-82B6-E871-374B-6B47029BEB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6.05.2026</a:t>
            </a:fld>
            <a:endParaRPr lang="pl-P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E6E57C-9A3A-D195-66FF-2E62EF4FE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BEE4E4-C97C-DC12-155D-2F33339B2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70320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46024-1932-E440-D420-129E4E15B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EB8783-2307-60CD-0629-14A102262A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D1C68B-74D2-1562-3E2C-C3FD27DB1C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62320A-9B6F-544D-532C-8511127A28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6.05.2026</a:t>
            </a:fld>
            <a:endParaRPr lang="pl-P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4FD70E-729F-F08D-5F94-27E8EC822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71E564-0F96-C70F-EAF4-39D8EDBF8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36192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C2C09-5E7A-2BA6-886F-C36F85227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9C395D3-0B68-8813-BDDE-CF20719217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C172BB-1F9D-F9EF-4691-6546DF8E7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6.05.2026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FB5455-0034-DB0B-2A97-25748E1E37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45A784-4EC3-7A81-AC93-51C81FADD7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516636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A28E39-453F-350C-7406-DBAB8CCDFD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6D560A-5C07-9B01-A7B7-8729356E04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F22672-2E42-EA63-66DA-EE35FA602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5F02D-787D-418D-91FA-B9ACD8A789B6}" type="datetimeFigureOut">
              <a:rPr lang="pl-PL" smtClean="0"/>
              <a:t>6.05.2026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3055F5-42BB-C078-1E27-B9A3B267A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21FD1A-9B0E-AB8C-7BBD-7D1858B25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04021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FE6E7F-81B3-8DF0-4C7F-9F34BBFF1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l-P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1FFF9B-2F76-84F3-FA4D-4589A7EAD1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E672E7-C429-9E63-6ED1-DEBC6DEF8F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95F02D-787D-418D-91FA-B9ACD8A789B6}" type="datetimeFigureOut">
              <a:rPr lang="pl-PL" smtClean="0"/>
              <a:t>6.05.2026</a:t>
            </a:fld>
            <a:endParaRPr lang="pl-P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AD546E-EDFB-3633-661B-8246B9F06F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85DCD0-624D-191E-7A1B-29D0122EB7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9B51A8-4AEF-4D90-8B47-01439497BCE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042458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247" name="Rectangle 10246">
            <a:extLst>
              <a:ext uri="{FF2B5EF4-FFF2-40B4-BE49-F238E27FC236}">
                <a16:creationId xmlns:a16="http://schemas.microsoft.com/office/drawing/2014/main" id="{9203DE33-2CD4-4CA8-9AF3-37C3B6513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49" name="Rectangle 10248">
            <a:extLst>
              <a:ext uri="{FF2B5EF4-FFF2-40B4-BE49-F238E27FC236}">
                <a16:creationId xmlns:a16="http://schemas.microsoft.com/office/drawing/2014/main" id="{0AF57B88-1D4C-41FA-A761-EC1DD10C3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11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251" name="Rectangle 10250">
            <a:extLst>
              <a:ext uri="{FF2B5EF4-FFF2-40B4-BE49-F238E27FC236}">
                <a16:creationId xmlns:a16="http://schemas.microsoft.com/office/drawing/2014/main" id="{D2548F45-5164-4ABB-8212-7F293FDED8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9565" y="2659404"/>
            <a:ext cx="4355594" cy="404074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42" name="Picture 2" descr="adidas smart ball Cheap Sale - OFF 55%">
            <a:extLst>
              <a:ext uri="{FF2B5EF4-FFF2-40B4-BE49-F238E27FC236}">
                <a16:creationId xmlns:a16="http://schemas.microsoft.com/office/drawing/2014/main" id="{2E816FD0-FCD7-818D-149A-AC44019DE6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49" r="2" b="16847"/>
          <a:stretch>
            <a:fillRect/>
          </a:stretch>
        </p:blipFill>
        <p:spPr bwMode="auto">
          <a:xfrm>
            <a:off x="4038599" y="10"/>
            <a:ext cx="8160026" cy="68758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53" name="Freeform: Shape 10252">
            <a:extLst>
              <a:ext uri="{FF2B5EF4-FFF2-40B4-BE49-F238E27FC236}">
                <a16:creationId xmlns:a16="http://schemas.microsoft.com/office/drawing/2014/main" id="{5E81CCFB-7BEF-4186-86FB-D09450B4D0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64B417-7010-3CE9-B372-D0A5293AB4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4473" y="2950387"/>
            <a:ext cx="3052293" cy="3531403"/>
          </a:xfrm>
        </p:spPr>
        <p:txBody>
          <a:bodyPr anchor="t">
            <a:normAutofit/>
          </a:bodyPr>
          <a:lstStyle/>
          <a:p>
            <a:pPr algn="r"/>
            <a:r>
              <a:rPr lang="pl-PL" sz="4000">
                <a:solidFill>
                  <a:srgbClr val="FFFFFF"/>
                </a:solidFill>
              </a:rPr>
              <a:t>Smart-piłka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27D91C-A08C-D975-3AF0-31C0DF3FE2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7922" y="743803"/>
            <a:ext cx="2808844" cy="1382392"/>
          </a:xfrm>
        </p:spPr>
        <p:txBody>
          <a:bodyPr anchor="b">
            <a:normAutofit/>
          </a:bodyPr>
          <a:lstStyle/>
          <a:p>
            <a:pPr algn="r"/>
            <a:endParaRPr lang="pl-PL" sz="20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2876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C8C292-2925-95EB-6340-DA370F791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Wymagania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927C8-3656-6CDF-F34B-6CB53E8B5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Wykrywanie:</a:t>
            </a:r>
          </a:p>
          <a:p>
            <a:pPr lvl="1"/>
            <a:r>
              <a:rPr lang="pl-PL" dirty="0"/>
              <a:t>Przyśpieszenia liniowego </a:t>
            </a:r>
          </a:p>
          <a:p>
            <a:pPr lvl="1"/>
            <a:r>
              <a:rPr lang="pl-PL" dirty="0"/>
              <a:t>przyśpieszenia kątowego</a:t>
            </a:r>
          </a:p>
          <a:p>
            <a:r>
              <a:rPr lang="pl-PL" dirty="0"/>
              <a:t>Łączność bezprzewodowa do wymiany informacji z telefonem</a:t>
            </a:r>
          </a:p>
          <a:p>
            <a:pPr lvl="1"/>
            <a:r>
              <a:rPr lang="pl-PL" dirty="0"/>
              <a:t>Bluetooth </a:t>
            </a:r>
          </a:p>
        </p:txBody>
      </p:sp>
    </p:spTree>
    <p:extLst>
      <p:ext uri="{BB962C8B-B14F-4D97-AF65-F5344CB8AC3E}">
        <p14:creationId xmlns:p14="http://schemas.microsoft.com/office/powerpoint/2010/main" val="31641779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973EA-AF36-2186-90DF-41B3E8E4D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L" dirty="0"/>
              <a:t>Schemat blokowy systemu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7688782-8096-3CC7-948D-AD23318955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12148" y="1825625"/>
            <a:ext cx="916770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4906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B5A6D-5EF3-D085-378D-9904EB4FE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L" dirty="0"/>
              <a:t>Zasada działania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0BAD60-911C-5920-4B42-43DB680C81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PL" dirty="0"/>
              <a:t>Pomiary</a:t>
            </a:r>
          </a:p>
          <a:p>
            <a:r>
              <a:rPr lang="en-PL" dirty="0"/>
              <a:t>Gromadzenie </a:t>
            </a:r>
            <a:r>
              <a:rPr lang="en-GB" dirty="0"/>
              <a:t>i</a:t>
            </a:r>
            <a:r>
              <a:rPr lang="en-PL" dirty="0"/>
              <a:t> wyświetlanie informacji w aplikacji mobilnej</a:t>
            </a:r>
          </a:p>
          <a:p>
            <a:r>
              <a:rPr lang="en-PL" dirty="0"/>
              <a:t>Poszukiwanie zgubionej piłki za pomoca telefonu</a:t>
            </a:r>
            <a:br>
              <a:rPr lang="en-PL" dirty="0"/>
            </a:br>
            <a:r>
              <a:rPr lang="en-PL" dirty="0"/>
              <a:t>(GPS, głośnik, łączność z tel. poprzez GSM)</a:t>
            </a:r>
          </a:p>
          <a:p>
            <a:pPr marL="0" indent="0">
              <a:buNone/>
            </a:pPr>
            <a:endParaRPr lang="en-PL" dirty="0"/>
          </a:p>
        </p:txBody>
      </p:sp>
    </p:spTree>
    <p:extLst>
      <p:ext uri="{BB962C8B-B14F-4D97-AF65-F5344CB8AC3E}">
        <p14:creationId xmlns:p14="http://schemas.microsoft.com/office/powerpoint/2010/main" val="2474828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9905B-2AF6-79A1-3E58-093647EA5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L" dirty="0"/>
              <a:t>Pomiary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A203AF-0A89-B18C-7866-571D9AB2E0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PL" dirty="0"/>
              <a:t>bezpośrednie</a:t>
            </a:r>
          </a:p>
          <a:p>
            <a:pPr lvl="1"/>
            <a:r>
              <a:rPr lang="en-PL" dirty="0"/>
              <a:t>przyśpieszenie liniowe</a:t>
            </a:r>
          </a:p>
          <a:p>
            <a:pPr lvl="1"/>
            <a:r>
              <a:rPr lang="en-PL" dirty="0"/>
              <a:t>prędkość kątowa</a:t>
            </a:r>
          </a:p>
          <a:p>
            <a:r>
              <a:rPr lang="en-PL" dirty="0"/>
              <a:t>pośrednie</a:t>
            </a:r>
          </a:p>
          <a:p>
            <a:pPr lvl="1"/>
            <a:r>
              <a:rPr lang="en-PL" dirty="0"/>
              <a:t>podkręcenie piłki</a:t>
            </a:r>
          </a:p>
          <a:p>
            <a:pPr lvl="1"/>
            <a:r>
              <a:rPr lang="en-PL" dirty="0"/>
              <a:t>efekt Magnusa – jak mocno piłka skręci</a:t>
            </a:r>
          </a:p>
          <a:p>
            <a:pPr lvl="1"/>
            <a:r>
              <a:rPr lang="en-PL" dirty="0"/>
              <a:t>lokalizacja uderzenia piłki</a:t>
            </a:r>
          </a:p>
        </p:txBody>
      </p:sp>
    </p:spTree>
    <p:extLst>
      <p:ext uri="{BB962C8B-B14F-4D97-AF65-F5344CB8AC3E}">
        <p14:creationId xmlns:p14="http://schemas.microsoft.com/office/powerpoint/2010/main" val="13268482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B1BF6-1BB8-0B10-2095-4937F3B58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L" dirty="0"/>
              <a:t>Funkcjonalności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428CB6-1B82-0FDF-7B3B-4D45301969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 err="1"/>
              <a:t>Wirtualny</a:t>
            </a:r>
            <a:r>
              <a:rPr lang="en-GB" dirty="0"/>
              <a:t> </a:t>
            </a:r>
            <a:r>
              <a:rPr lang="en-GB" dirty="0" err="1"/>
              <a:t>Asystent</a:t>
            </a:r>
            <a:r>
              <a:rPr lang="en-GB" dirty="0"/>
              <a:t> </a:t>
            </a:r>
            <a:r>
              <a:rPr lang="en-GB" dirty="0" err="1"/>
              <a:t>Techniki</a:t>
            </a:r>
            <a:endParaRPr lang="en-GB" dirty="0"/>
          </a:p>
          <a:p>
            <a:r>
              <a:rPr lang="en-GB" dirty="0" err="1"/>
              <a:t>Generowanie</a:t>
            </a:r>
            <a:r>
              <a:rPr lang="en-GB" dirty="0"/>
              <a:t> </a:t>
            </a:r>
            <a:r>
              <a:rPr lang="en-GB" dirty="0" err="1"/>
              <a:t>trójwymiarowego</a:t>
            </a:r>
            <a:r>
              <a:rPr lang="en-GB" dirty="0"/>
              <a:t> </a:t>
            </a:r>
            <a:r>
              <a:rPr lang="en-GB" dirty="0" err="1"/>
              <a:t>modelu</a:t>
            </a:r>
            <a:r>
              <a:rPr lang="en-GB" dirty="0"/>
              <a:t> </a:t>
            </a:r>
            <a:r>
              <a:rPr lang="en-GB" dirty="0" err="1"/>
              <a:t>lotu</a:t>
            </a:r>
            <a:r>
              <a:rPr lang="en-GB" dirty="0"/>
              <a:t> </a:t>
            </a:r>
            <a:r>
              <a:rPr lang="en-GB" dirty="0" err="1"/>
              <a:t>piłki</a:t>
            </a:r>
            <a:endParaRPr lang="en-GB" dirty="0"/>
          </a:p>
          <a:p>
            <a:r>
              <a:rPr lang="en-GB" dirty="0" err="1"/>
              <a:t>Heatmapa</a:t>
            </a:r>
            <a:r>
              <a:rPr lang="en-GB" dirty="0"/>
              <a:t> </a:t>
            </a:r>
            <a:r>
              <a:rPr lang="en-GB" dirty="0" err="1"/>
              <a:t>Boiska</a:t>
            </a:r>
            <a:endParaRPr lang="en-GB" dirty="0"/>
          </a:p>
          <a:p>
            <a:r>
              <a:rPr lang="en-GB" dirty="0"/>
              <a:t>Ranking </a:t>
            </a:r>
            <a:r>
              <a:rPr lang="en-GB" dirty="0" err="1"/>
              <a:t>gracza</a:t>
            </a:r>
            <a:r>
              <a:rPr lang="en-GB" dirty="0"/>
              <a:t> – </a:t>
            </a:r>
            <a:r>
              <a:rPr lang="en-GB" dirty="0" err="1"/>
              <a:t>zestawienie</a:t>
            </a:r>
            <a:r>
              <a:rPr lang="en-GB" dirty="0"/>
              <a:t> online</a:t>
            </a:r>
          </a:p>
          <a:p>
            <a:r>
              <a:rPr lang="en-GB" dirty="0" err="1"/>
              <a:t>Dziennik</a:t>
            </a:r>
            <a:r>
              <a:rPr lang="en-GB" dirty="0"/>
              <a:t> </a:t>
            </a:r>
            <a:r>
              <a:rPr lang="en-GB" dirty="0" err="1"/>
              <a:t>postępów</a:t>
            </a:r>
            <a:endParaRPr lang="en-GB" dirty="0"/>
          </a:p>
          <a:p>
            <a:r>
              <a:rPr lang="en-PL" dirty="0"/>
              <a:t>Analiza gry zespołowej – za pomocą tagów Bluetooth</a:t>
            </a:r>
          </a:p>
        </p:txBody>
      </p:sp>
    </p:spTree>
    <p:extLst>
      <p:ext uri="{BB962C8B-B14F-4D97-AF65-F5344CB8AC3E}">
        <p14:creationId xmlns:p14="http://schemas.microsoft.com/office/powerpoint/2010/main" val="12762372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66B8CF-110C-DFBF-0586-BADD9923B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L" dirty="0"/>
              <a:t>Statystyki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21B47E-3571-B2FE-1321-5FE3513ADC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PL" dirty="0"/>
              <a:t>prędkość wylotowa</a:t>
            </a:r>
          </a:p>
          <a:p>
            <a:r>
              <a:rPr lang="en-PL" dirty="0"/>
              <a:t>rotacja</a:t>
            </a:r>
          </a:p>
          <a:p>
            <a:r>
              <a:rPr lang="en-PL" dirty="0"/>
              <a:t>typ rotacji</a:t>
            </a:r>
          </a:p>
          <a:p>
            <a:r>
              <a:rPr lang="en-PL" dirty="0"/>
              <a:t>czas kontaktu</a:t>
            </a:r>
          </a:p>
          <a:p>
            <a:r>
              <a:rPr lang="en-PL" dirty="0"/>
              <a:t>dystans strzału</a:t>
            </a:r>
          </a:p>
          <a:p>
            <a:r>
              <a:rPr lang="en-PL" dirty="0"/>
              <a:t>czas lotu</a:t>
            </a:r>
          </a:p>
          <a:p>
            <a:r>
              <a:rPr lang="en-PL" dirty="0"/>
              <a:t>kąt wzniosu</a:t>
            </a:r>
          </a:p>
          <a:p>
            <a:r>
              <a:rPr lang="en-PL" dirty="0"/>
              <a:t>całkowity dystans ( czasie rozgrywki)</a:t>
            </a:r>
          </a:p>
          <a:p>
            <a:r>
              <a:rPr lang="en-PL" dirty="0"/>
              <a:t>liczba kontaktów</a:t>
            </a:r>
          </a:p>
          <a:p>
            <a:r>
              <a:rPr lang="en-PL" dirty="0"/>
              <a:t>intensywność gry</a:t>
            </a:r>
          </a:p>
          <a:p>
            <a:r>
              <a:rPr lang="en-PL" dirty="0"/>
              <a:t>liczba podbić - żonglerka</a:t>
            </a:r>
          </a:p>
        </p:txBody>
      </p:sp>
    </p:spTree>
    <p:extLst>
      <p:ext uri="{BB962C8B-B14F-4D97-AF65-F5344CB8AC3E}">
        <p14:creationId xmlns:p14="http://schemas.microsoft.com/office/powerpoint/2010/main" val="1432286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19D32F93-50AC-4C46-A5DB-291C60DDB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3" name="Right Triangle 1032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B7E1B3C-170C-CB80-D38B-E9BA830BE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1" y="1036674"/>
            <a:ext cx="3689096" cy="351436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Środowisko programistyczne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F0198-EE9D-6F56-640B-C259C2EA8F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5202" y="4582814"/>
            <a:ext cx="3689094" cy="131265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r">
              <a:buNone/>
            </a:pPr>
            <a:r>
              <a:rPr lang="en-US" sz="20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VS Code +  ESP-IDF </a:t>
            </a:r>
          </a:p>
        </p:txBody>
      </p:sp>
      <p:pic>
        <p:nvPicPr>
          <p:cNvPr id="1026" name="Picture 2" descr="Getting Started With ESP-IDF | Set Up Espressif IDE – RoboticWorx">
            <a:extLst>
              <a:ext uri="{FF2B5EF4-FFF2-40B4-BE49-F238E27FC236}">
                <a16:creationId xmlns:a16="http://schemas.microsoft.com/office/drawing/2014/main" id="{27401CF1-204F-A204-A18E-AB6674A1E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358843" y="1424763"/>
            <a:ext cx="4779910" cy="3441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939894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864</TotalTime>
  <Words>127</Words>
  <Application>Microsoft Macintosh PowerPoint</Application>
  <PresentationFormat>Widescreen</PresentationFormat>
  <Paragraphs>41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Smart-piłka</vt:lpstr>
      <vt:lpstr>Wymagania</vt:lpstr>
      <vt:lpstr>Schemat blokowy systemu</vt:lpstr>
      <vt:lpstr>Zasada działania</vt:lpstr>
      <vt:lpstr>Pomiary</vt:lpstr>
      <vt:lpstr>Funkcjonalności</vt:lpstr>
      <vt:lpstr>Statystyki</vt:lpstr>
      <vt:lpstr>Środowisko programistyczne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Szymon Mamok</dc:creator>
  <cp:lastModifiedBy>Szymon Mamok (sm312359)</cp:lastModifiedBy>
  <cp:revision>19</cp:revision>
  <dcterms:created xsi:type="dcterms:W3CDTF">2025-10-02T07:33:59Z</dcterms:created>
  <dcterms:modified xsi:type="dcterms:W3CDTF">2026-05-06T20:14:13Z</dcterms:modified>
</cp:coreProperties>
</file>