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9" r:id="rId3"/>
    <p:sldId id="257" r:id="rId4"/>
    <p:sldId id="262" r:id="rId5"/>
    <p:sldId id="263" r:id="rId6"/>
    <p:sldId id="258" r:id="rId7"/>
    <p:sldId id="264" r:id="rId8"/>
    <p:sldId id="265" r:id="rId9"/>
    <p:sldId id="261" r:id="rId10"/>
    <p:sldId id="266" r:id="rId11"/>
    <p:sldId id="267" r:id="rId1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759A3-CAA2-40DA-AA5E-716B696E05E3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7B9CAA-5604-43F1-94F3-B12E66300A0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345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7B9CAA-5604-43F1-94F3-B12E66300A05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98694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CB42D-2CA4-3042-1059-C52AE8DCD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702C3-0AB8-3359-9AAE-744700D50A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B77-6312-7859-C3ED-2B96F2990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DC8F5-AC9E-082C-DA2F-532EE9CF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6EA60-0ADB-7EEB-4753-764319D4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92235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9EB6-1A90-2652-9806-2D07DBBDC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028C5-5FCB-4003-F385-ED41C8B73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11085-2AA7-D68B-D54A-FE1B10F3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B5DA3-5E0F-FE60-307E-A77E565A4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A5324-D5F5-BAA1-F990-D152795AC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6972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B1367-66AA-69DE-D882-D4743F211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81733-5EB8-4AE8-D69E-723254033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3B528-037C-E844-9032-081E82A2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DD8D0-3F91-1CA5-DA5F-7A3C95AF4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5F827-78FB-291F-A6D9-98378B0A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20298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B5E28-38FC-2979-0238-462577FE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07380-0B32-955C-5951-B83C592B7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A55DF7-4710-6A09-E408-81F35AF10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62C9-4B4C-D20B-DBC4-56764E675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C2E03-E6D3-D5CA-41BE-9A711219F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D59CFC-50F5-C5A6-D0C7-5CD4191C6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59054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0D01-8F3C-5C6B-9B57-2C6BC472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6618F-734D-8080-3C09-56C683817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D17D4-263F-5F0C-A860-19D9D79B9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46385D-1960-016A-8707-847FB16831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565E7-785D-C417-3943-8DD6CDA43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890128-BD1C-80B9-0413-059F2DF58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B371D9-7455-6338-F2EC-782B20E37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F7E741-DD80-DEDD-4B26-59F7FB658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40397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217E-8D80-5558-1E36-3F0850740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44DB2-0C56-A630-81E8-70AB1C96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CB50E4-93E9-9220-C5D1-385AE9579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02A9C-43E0-ACA8-DCDE-CAD7EBAD3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4781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608B49-CBC6-525E-872D-8541E625A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06850B-2FFA-9E13-6A2A-3C1020F8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693FA-B3A6-2E36-321A-5703CF04F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7134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90DE-6729-9061-5223-41283EE7B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4EA70-2E4F-7737-3435-1D80C1366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EE90FF-0867-6A5F-2A47-EFEFD2990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D39A1-82B6-E871-374B-6B47029BE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6E57C-9A3A-D195-66FF-2E62EF4FE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BEE4E4-C97C-DC12-155D-2F33339B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032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46024-1932-E440-D420-129E4E15B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EB8783-2307-60CD-0629-14A102262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1C68B-74D2-1562-3E2C-C3FD27DB1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2320A-9B6F-544D-532C-8511127A2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4FD70E-729F-F08D-5F94-27E8EC82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1E564-0F96-C70F-EAF4-39D8EDBF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6192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C2C09-5E7A-2BA6-886F-C36F85227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C395D3-0B68-8813-BDDE-CF2071921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172BB-1F9D-F9EF-4691-6546DF8E7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B5455-0034-DB0B-2A97-25748E1E3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5A784-4EC3-7A81-AC93-51C81FADD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16636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A28E39-453F-350C-7406-DBAB8CCDFD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D560A-5C07-9B01-A7B7-8729356E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22672-2E42-EA63-66DA-EE35FA60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055F5-42BB-C078-1E27-B9A3B267A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1FD1A-9B0E-AB8C-7BBD-7D1858B25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402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FE6E7F-81B3-8DF0-4C7F-9F34BBFF1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FFF9B-2F76-84F3-FA4D-4589A7EAD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672E7-C429-9E63-6ED1-DEBC6DEF8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95F02D-787D-418D-91FA-B9ACD8A789B6}" type="datetimeFigureOut">
              <a:rPr lang="pl-PL" smtClean="0"/>
              <a:t>7.10.2025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D546E-EDFB-3633-661B-8246B9F06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5DCD0-624D-191E-7A1B-29D0122EB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4245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Rectangle 10248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51" name="Rectangle 10250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adidas smart ball Cheap Sale - OFF 55%">
            <a:extLst>
              <a:ext uri="{FF2B5EF4-FFF2-40B4-BE49-F238E27FC236}">
                <a16:creationId xmlns:a16="http://schemas.microsoft.com/office/drawing/2014/main" id="{2E816FD0-FCD7-818D-149A-AC44019DE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49" r="2" b="16847"/>
          <a:stretch>
            <a:fillRect/>
          </a:stretch>
        </p:blipFill>
        <p:spPr bwMode="auto">
          <a:xfrm>
            <a:off x="4038599" y="10"/>
            <a:ext cx="8160026" cy="687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3" name="Freeform: Shape 10252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64B417-7010-3CE9-B372-D0A5293AB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4473" y="2950387"/>
            <a:ext cx="3052293" cy="3531403"/>
          </a:xfrm>
        </p:spPr>
        <p:txBody>
          <a:bodyPr anchor="t">
            <a:normAutofit/>
          </a:bodyPr>
          <a:lstStyle/>
          <a:p>
            <a:pPr algn="r"/>
            <a:r>
              <a:rPr lang="pl-PL" sz="4000">
                <a:solidFill>
                  <a:srgbClr val="FFFFFF"/>
                </a:solidFill>
              </a:rPr>
              <a:t>Smart-piłka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27D91C-A08C-D975-3AF0-31C0DF3FE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922" y="743803"/>
            <a:ext cx="2808844" cy="1382392"/>
          </a:xfrm>
        </p:spPr>
        <p:txBody>
          <a:bodyPr anchor="b">
            <a:normAutofit/>
          </a:bodyPr>
          <a:lstStyle/>
          <a:p>
            <a:pPr algn="r"/>
            <a:endParaRPr lang="pl-PL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287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8C292-2925-95EB-6340-DA370F791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Wymagania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927C8-3656-6CDF-F34B-6CB53E8B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Wykrywanie:</a:t>
            </a:r>
          </a:p>
          <a:p>
            <a:pPr lvl="1"/>
            <a:r>
              <a:rPr lang="pl-PL" dirty="0"/>
              <a:t>Przyśpieszenia liniowego i kątowego</a:t>
            </a:r>
          </a:p>
          <a:p>
            <a:pPr lvl="1"/>
            <a:r>
              <a:rPr lang="pl-PL" dirty="0"/>
              <a:t>Miejsc styku piłki z podłożem lub graczem</a:t>
            </a:r>
          </a:p>
          <a:p>
            <a:r>
              <a:rPr lang="pl-PL" dirty="0"/>
              <a:t>Łączność bezprzewodowa do wymiany informacji z telefonem</a:t>
            </a:r>
          </a:p>
          <a:p>
            <a:r>
              <a:rPr lang="pl-PL" dirty="0"/>
              <a:t>Bluetooth </a:t>
            </a:r>
          </a:p>
        </p:txBody>
      </p:sp>
    </p:spTree>
    <p:extLst>
      <p:ext uri="{BB962C8B-B14F-4D97-AF65-F5344CB8AC3E}">
        <p14:creationId xmlns:p14="http://schemas.microsoft.com/office/powerpoint/2010/main" val="316417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532AA5-8241-2623-AA14-FF91BD2A0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823"/>
            <a:ext cx="3419856" cy="5583148"/>
          </a:xfrm>
        </p:spPr>
        <p:txBody>
          <a:bodyPr anchor="ctr">
            <a:normAutofit/>
          </a:bodyPr>
          <a:lstStyle/>
          <a:p>
            <a:r>
              <a:rPr lang="pl-PL" sz="4600"/>
              <a:t>Akcelerometr 3-osiowy</a:t>
            </a:r>
          </a:p>
        </p:txBody>
      </p:sp>
      <p:sp>
        <p:nvSpPr>
          <p:cNvPr id="6153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267200" y="630936"/>
            <a:ext cx="18288" cy="5590381"/>
          </a:xfrm>
          <a:custGeom>
            <a:avLst/>
            <a:gdLst>
              <a:gd name="connsiteX0" fmla="*/ 0 w 18288"/>
              <a:gd name="connsiteY0" fmla="*/ 0 h 5590381"/>
              <a:gd name="connsiteX1" fmla="*/ 18288 w 18288"/>
              <a:gd name="connsiteY1" fmla="*/ 0 h 5590381"/>
              <a:gd name="connsiteX2" fmla="*/ 18288 w 18288"/>
              <a:gd name="connsiteY2" fmla="*/ 754701 h 5590381"/>
              <a:gd name="connsiteX3" fmla="*/ 18288 w 18288"/>
              <a:gd name="connsiteY3" fmla="*/ 1565307 h 5590381"/>
              <a:gd name="connsiteX4" fmla="*/ 18288 w 18288"/>
              <a:gd name="connsiteY4" fmla="*/ 2152297 h 5590381"/>
              <a:gd name="connsiteX5" fmla="*/ 18288 w 18288"/>
              <a:gd name="connsiteY5" fmla="*/ 2906998 h 5590381"/>
              <a:gd name="connsiteX6" fmla="*/ 18288 w 18288"/>
              <a:gd name="connsiteY6" fmla="*/ 3549892 h 5590381"/>
              <a:gd name="connsiteX7" fmla="*/ 18288 w 18288"/>
              <a:gd name="connsiteY7" fmla="*/ 4080978 h 5590381"/>
              <a:gd name="connsiteX8" fmla="*/ 18288 w 18288"/>
              <a:gd name="connsiteY8" fmla="*/ 4835680 h 5590381"/>
              <a:gd name="connsiteX9" fmla="*/ 18288 w 18288"/>
              <a:gd name="connsiteY9" fmla="*/ 5590381 h 5590381"/>
              <a:gd name="connsiteX10" fmla="*/ 0 w 18288"/>
              <a:gd name="connsiteY10" fmla="*/ 5590381 h 5590381"/>
              <a:gd name="connsiteX11" fmla="*/ 0 w 18288"/>
              <a:gd name="connsiteY11" fmla="*/ 4835680 h 5590381"/>
              <a:gd name="connsiteX12" fmla="*/ 0 w 18288"/>
              <a:gd name="connsiteY12" fmla="*/ 4304593 h 5590381"/>
              <a:gd name="connsiteX13" fmla="*/ 0 w 18288"/>
              <a:gd name="connsiteY13" fmla="*/ 3773507 h 5590381"/>
              <a:gd name="connsiteX14" fmla="*/ 0 w 18288"/>
              <a:gd name="connsiteY14" fmla="*/ 3186517 h 5590381"/>
              <a:gd name="connsiteX15" fmla="*/ 0 w 18288"/>
              <a:gd name="connsiteY15" fmla="*/ 2487720 h 5590381"/>
              <a:gd name="connsiteX16" fmla="*/ 0 w 18288"/>
              <a:gd name="connsiteY16" fmla="*/ 1956633 h 5590381"/>
              <a:gd name="connsiteX17" fmla="*/ 0 w 18288"/>
              <a:gd name="connsiteY17" fmla="*/ 1425547 h 5590381"/>
              <a:gd name="connsiteX18" fmla="*/ 0 w 18288"/>
              <a:gd name="connsiteY18" fmla="*/ 614942 h 5590381"/>
              <a:gd name="connsiteX19" fmla="*/ 0 w 18288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" h="5590381" fill="none" extrusionOk="0">
                <a:moveTo>
                  <a:pt x="0" y="0"/>
                </a:moveTo>
                <a:cubicBezTo>
                  <a:pt x="7726" y="-435"/>
                  <a:pt x="14198" y="437"/>
                  <a:pt x="18288" y="0"/>
                </a:cubicBezTo>
                <a:cubicBezTo>
                  <a:pt x="-5226" y="225076"/>
                  <a:pt x="46275" y="562283"/>
                  <a:pt x="18288" y="754701"/>
                </a:cubicBezTo>
                <a:cubicBezTo>
                  <a:pt x="-9699" y="947119"/>
                  <a:pt x="30081" y="1239251"/>
                  <a:pt x="18288" y="1565307"/>
                </a:cubicBezTo>
                <a:cubicBezTo>
                  <a:pt x="6495" y="1891363"/>
                  <a:pt x="7160" y="1999140"/>
                  <a:pt x="18288" y="2152297"/>
                </a:cubicBezTo>
                <a:cubicBezTo>
                  <a:pt x="29417" y="2305454"/>
                  <a:pt x="28705" y="2598333"/>
                  <a:pt x="18288" y="2906998"/>
                </a:cubicBezTo>
                <a:cubicBezTo>
                  <a:pt x="7871" y="3215663"/>
                  <a:pt x="35263" y="3327412"/>
                  <a:pt x="18288" y="3549892"/>
                </a:cubicBezTo>
                <a:cubicBezTo>
                  <a:pt x="1313" y="3772372"/>
                  <a:pt x="38561" y="3843836"/>
                  <a:pt x="18288" y="4080978"/>
                </a:cubicBezTo>
                <a:cubicBezTo>
                  <a:pt x="-1985" y="4318120"/>
                  <a:pt x="-3806" y="4511166"/>
                  <a:pt x="18288" y="4835680"/>
                </a:cubicBezTo>
                <a:cubicBezTo>
                  <a:pt x="40382" y="5160194"/>
                  <a:pt x="-13070" y="5401748"/>
                  <a:pt x="18288" y="5590381"/>
                </a:cubicBezTo>
                <a:cubicBezTo>
                  <a:pt x="12010" y="5589863"/>
                  <a:pt x="6799" y="5589982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8288" h="5590381" stroke="0" extrusionOk="0">
                <a:moveTo>
                  <a:pt x="0" y="0"/>
                </a:moveTo>
                <a:cubicBezTo>
                  <a:pt x="5871" y="848"/>
                  <a:pt x="11713" y="-200"/>
                  <a:pt x="18288" y="0"/>
                </a:cubicBezTo>
                <a:cubicBezTo>
                  <a:pt x="41141" y="165299"/>
                  <a:pt x="3613" y="427555"/>
                  <a:pt x="18288" y="698798"/>
                </a:cubicBezTo>
                <a:cubicBezTo>
                  <a:pt x="32963" y="970041"/>
                  <a:pt x="19680" y="1226199"/>
                  <a:pt x="18288" y="1397595"/>
                </a:cubicBezTo>
                <a:cubicBezTo>
                  <a:pt x="16896" y="1568991"/>
                  <a:pt x="38798" y="1794517"/>
                  <a:pt x="18288" y="2152297"/>
                </a:cubicBezTo>
                <a:cubicBezTo>
                  <a:pt x="-2222" y="2510077"/>
                  <a:pt x="40846" y="2594424"/>
                  <a:pt x="18288" y="2739287"/>
                </a:cubicBezTo>
                <a:cubicBezTo>
                  <a:pt x="-4270" y="2884150"/>
                  <a:pt x="27117" y="3129706"/>
                  <a:pt x="18288" y="3493988"/>
                </a:cubicBezTo>
                <a:cubicBezTo>
                  <a:pt x="9459" y="3858270"/>
                  <a:pt x="54201" y="4041447"/>
                  <a:pt x="18288" y="4304593"/>
                </a:cubicBezTo>
                <a:cubicBezTo>
                  <a:pt x="-17625" y="4567740"/>
                  <a:pt x="49627" y="5149125"/>
                  <a:pt x="18288" y="5590381"/>
                </a:cubicBezTo>
                <a:cubicBezTo>
                  <a:pt x="10860" y="5590744"/>
                  <a:pt x="7568" y="5590157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6" name="Picture 2" descr="Przyspieszenie Filmy Stock – 10,493 Przyspieszenie Video Stock - Dreamstime">
            <a:extLst>
              <a:ext uri="{FF2B5EF4-FFF2-40B4-BE49-F238E27FC236}">
                <a16:creationId xmlns:a16="http://schemas.microsoft.com/office/drawing/2014/main" id="{35E306EA-30F8-0CFF-4749-E5572C485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648652"/>
            <a:ext cx="6894576" cy="3878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54C5-2D63-43A4-8170-33918852C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4798577"/>
            <a:ext cx="6894576" cy="1428487"/>
          </a:xfrm>
        </p:spPr>
        <p:txBody>
          <a:bodyPr anchor="t">
            <a:normAutofit/>
          </a:bodyPr>
          <a:lstStyle/>
          <a:p>
            <a:r>
              <a:rPr lang="pl-PL" sz="2200"/>
              <a:t>Pomiar przyśpieszenia liniowego</a:t>
            </a:r>
          </a:p>
          <a:p>
            <a:pPr lvl="1"/>
            <a:r>
              <a:rPr lang="pl-PL" sz="2200"/>
              <a:t>wykrywanie zderzeń</a:t>
            </a:r>
          </a:p>
          <a:p>
            <a:pPr lvl="1"/>
            <a:r>
              <a:rPr lang="pl-PL" sz="2200"/>
              <a:t>Szacowanie prędkości</a:t>
            </a:r>
          </a:p>
        </p:txBody>
      </p:sp>
    </p:spTree>
    <p:extLst>
      <p:ext uri="{BB962C8B-B14F-4D97-AF65-F5344CB8AC3E}">
        <p14:creationId xmlns:p14="http://schemas.microsoft.com/office/powerpoint/2010/main" val="2650477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36CE4B-41E3-5FBB-8FFD-05B848527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>
            <a:normAutofit/>
          </a:bodyPr>
          <a:lstStyle/>
          <a:p>
            <a:r>
              <a:rPr lang="pl-PL" sz="3200"/>
              <a:t>Szacowanie wymaganych parametrów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E9C9B-D058-50A6-989C-553A97FE8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164" y="586822"/>
            <a:ext cx="6002636" cy="1645920"/>
          </a:xfrm>
        </p:spPr>
        <p:txBody>
          <a:bodyPr anchor="ctr">
            <a:normAutofit/>
          </a:bodyPr>
          <a:lstStyle/>
          <a:p>
            <a:r>
              <a:rPr lang="pl-PL" sz="1800"/>
              <a:t>pomiar o wysokiej rozdzielczości do ±200 g.</a:t>
            </a:r>
          </a:p>
          <a:p>
            <a:r>
              <a:rPr lang="pl-PL" sz="1800"/>
              <a:t>Pomiar w 3 wymiarach</a:t>
            </a:r>
          </a:p>
          <a:p>
            <a:pPr marL="0" indent="0">
              <a:buNone/>
            </a:pPr>
            <a:endParaRPr lang="pl-PL" sz="1800"/>
          </a:p>
          <a:p>
            <a:pPr marL="0" indent="0">
              <a:buNone/>
            </a:pPr>
            <a:endParaRPr lang="pl-PL" sz="180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A34A96A-F457-9D4D-C4A1-7169DCFD4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356880"/>
              </p:ext>
            </p:extLst>
          </p:nvPr>
        </p:nvGraphicFramePr>
        <p:xfrm>
          <a:off x="557784" y="3001224"/>
          <a:ext cx="11164826" cy="2949531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78250">
                  <a:extLst>
                    <a:ext uri="{9D8B030D-6E8A-4147-A177-3AD203B41FA5}">
                      <a16:colId xmlns:a16="http://schemas.microsoft.com/office/drawing/2014/main" val="974519457"/>
                    </a:ext>
                  </a:extLst>
                </a:gridCol>
                <a:gridCol w="1920015">
                  <a:extLst>
                    <a:ext uri="{9D8B030D-6E8A-4147-A177-3AD203B41FA5}">
                      <a16:colId xmlns:a16="http://schemas.microsoft.com/office/drawing/2014/main" val="2325904730"/>
                    </a:ext>
                  </a:extLst>
                </a:gridCol>
                <a:gridCol w="3330308">
                  <a:extLst>
                    <a:ext uri="{9D8B030D-6E8A-4147-A177-3AD203B41FA5}">
                      <a16:colId xmlns:a16="http://schemas.microsoft.com/office/drawing/2014/main" val="23346387"/>
                    </a:ext>
                  </a:extLst>
                </a:gridCol>
                <a:gridCol w="2594940">
                  <a:extLst>
                    <a:ext uri="{9D8B030D-6E8A-4147-A177-3AD203B41FA5}">
                      <a16:colId xmlns:a16="http://schemas.microsoft.com/office/drawing/2014/main" val="349010716"/>
                    </a:ext>
                  </a:extLst>
                </a:gridCol>
                <a:gridCol w="1641313">
                  <a:extLst>
                    <a:ext uri="{9D8B030D-6E8A-4147-A177-3AD203B41FA5}">
                      <a16:colId xmlns:a16="http://schemas.microsoft.com/office/drawing/2014/main" val="1713428280"/>
                    </a:ext>
                  </a:extLst>
                </a:gridCol>
              </a:tblGrid>
              <a:tr h="8026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 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Czas uderzenia [s]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Szybkość serwisu/uderzenia [m/s]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Maks przyśpieszenie [g]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Bandwidth [Hz]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b"/>
                </a:tc>
                <a:extLst>
                  <a:ext uri="{0D108BD9-81ED-4DB2-BD59-A6C34878D82A}">
                    <a16:rowId xmlns:a16="http://schemas.microsoft.com/office/drawing/2014/main" val="102399070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Siatkówka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0,005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300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100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80533910"/>
                  </a:ext>
                </a:extLst>
              </a:tr>
              <a:tr h="8026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koszykowa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0,008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12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150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62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74227382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nożna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0,01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300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50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2178993564"/>
                  </a:ext>
                </a:extLst>
              </a:tr>
              <a:tr h="4480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Piłka ręczna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0,003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>
                          <a:effectLst/>
                        </a:rPr>
                        <a:t>25</a:t>
                      </a:r>
                      <a:endParaRPr lang="pl-PL" sz="2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850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2300" u="none" strike="noStrike" dirty="0">
                          <a:effectLst/>
                        </a:rPr>
                        <a:t>170</a:t>
                      </a:r>
                      <a:endParaRPr lang="pl-PL" sz="23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6118" marR="16118" marT="16118" marB="0" anchor="ctr"/>
                </a:tc>
                <a:extLst>
                  <a:ext uri="{0D108BD9-81ED-4DB2-BD59-A6C34878D82A}">
                    <a16:rowId xmlns:a16="http://schemas.microsoft.com/office/drawing/2014/main" val="1053246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051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A93F67-DEF4-66F7-47A1-6F5F1930E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Dostępne czujniki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486C62C-7A35-5362-8B86-99991CA62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1421666"/>
              </p:ext>
            </p:extLst>
          </p:nvPr>
        </p:nvGraphicFramePr>
        <p:xfrm>
          <a:off x="2560945" y="2112579"/>
          <a:ext cx="7094053" cy="41928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431">
                  <a:extLst>
                    <a:ext uri="{9D8B030D-6E8A-4147-A177-3AD203B41FA5}">
                      <a16:colId xmlns:a16="http://schemas.microsoft.com/office/drawing/2014/main" val="2215731233"/>
                    </a:ext>
                  </a:extLst>
                </a:gridCol>
                <a:gridCol w="2503533">
                  <a:extLst>
                    <a:ext uri="{9D8B030D-6E8A-4147-A177-3AD203B41FA5}">
                      <a16:colId xmlns:a16="http://schemas.microsoft.com/office/drawing/2014/main" val="3609771096"/>
                    </a:ext>
                  </a:extLst>
                </a:gridCol>
                <a:gridCol w="2388089">
                  <a:extLst>
                    <a:ext uri="{9D8B030D-6E8A-4147-A177-3AD203B41FA5}">
                      <a16:colId xmlns:a16="http://schemas.microsoft.com/office/drawing/2014/main" val="280550003"/>
                    </a:ext>
                  </a:extLst>
                </a:gridCol>
              </a:tblGrid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 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H3LIS331DL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ADXL 373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103961148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Skala pomiarowa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100/200/400g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0997449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ODR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0,5 Hz - 1 kHz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160 Hz - 2560 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451481955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Zakres temp.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-40 to +85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−40°C to +105°C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157030397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Zasilanie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2.16 V to 3.6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1.6 V to 3.5 V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00944750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Tryb oszczedny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7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1400" u="none" strike="noStrike">
                          <a:effectLst/>
                        </a:rPr>
                        <a:t>19 μ</a:t>
                      </a:r>
                      <a:r>
                        <a:rPr lang="pl-PL" sz="1400" u="none" strike="noStrike">
                          <a:effectLst/>
                        </a:rPr>
                        <a:t>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9850040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Wytrzymałość na uderzenia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10000g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74663790"/>
                  </a:ext>
                </a:extLst>
              </a:tr>
              <a:tr h="47563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Rozdzielczość danych wyjściowych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12 bit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671454834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Współczynnik skali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195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200 mg/LSB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772308375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Interfejsy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234613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I2C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400 kHz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3,4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194680032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SPI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10 MHz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1925303917"/>
                  </a:ext>
                </a:extLst>
              </a:tr>
              <a:tr h="26551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Cena: 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5366983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Evaluation board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18 $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36 $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3951118576"/>
                  </a:ext>
                </a:extLst>
              </a:tr>
              <a:tr h="26551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Chip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>
                          <a:effectLst/>
                        </a:rPr>
                        <a:t>11 $</a:t>
                      </a:r>
                      <a:endParaRPr lang="pl-PL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400" u="none" strike="noStrike" dirty="0">
                          <a:effectLst/>
                        </a:rPr>
                        <a:t>18 $</a:t>
                      </a:r>
                      <a:endParaRPr lang="pl-PL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51" marR="9551" marT="9551" marB="0" anchor="b"/>
                </a:tc>
                <a:extLst>
                  <a:ext uri="{0D108BD9-81ED-4DB2-BD59-A6C34878D82A}">
                    <a16:rowId xmlns:a16="http://schemas.microsoft.com/office/drawing/2014/main" val="20317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0395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75" name="Rectangle 717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063FFD-009E-C959-B824-E0E86318F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pl-PL" sz="5400"/>
              <a:t>Żyroskop 3-osiowy</a:t>
            </a:r>
          </a:p>
        </p:txBody>
      </p:sp>
      <p:sp>
        <p:nvSpPr>
          <p:cNvPr id="717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F77DB-C7E5-6060-1F26-711BFC24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pl-PL" sz="2200"/>
              <a:t>Pomiar przyśpieszenia kątowego</a:t>
            </a:r>
          </a:p>
          <a:p>
            <a:pPr lvl="1"/>
            <a:r>
              <a:rPr lang="pl-PL" sz="2200"/>
              <a:t>Pomiar podkręcenia piłki</a:t>
            </a:r>
          </a:p>
        </p:txBody>
      </p:sp>
      <p:pic>
        <p:nvPicPr>
          <p:cNvPr id="7172" name="Picture 4" descr="Obrót png | PNGEgg">
            <a:extLst>
              <a:ext uri="{FF2B5EF4-FFF2-40B4-BE49-F238E27FC236}">
                <a16:creationId xmlns:a16="http://schemas.microsoft.com/office/drawing/2014/main" id="{FD8C128D-C447-E01F-EF28-AD9C7DBC5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8762" y="285249"/>
            <a:ext cx="6515220" cy="6515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929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F4F5FF-BA56-4B9C-4BFB-4E35444D5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Wymagane parametry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F5141E4-41DB-E248-650A-32A44A0680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44981668"/>
              </p:ext>
            </p:extLst>
          </p:nvPr>
        </p:nvGraphicFramePr>
        <p:xfrm>
          <a:off x="1362729" y="2368751"/>
          <a:ext cx="9490481" cy="3680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4292706918"/>
                    </a:ext>
                  </a:extLst>
                </a:gridCol>
                <a:gridCol w="2747010">
                  <a:extLst>
                    <a:ext uri="{9D8B030D-6E8A-4147-A177-3AD203B41FA5}">
                      <a16:colId xmlns:a16="http://schemas.microsoft.com/office/drawing/2014/main" val="3081990072"/>
                    </a:ext>
                  </a:extLst>
                </a:gridCol>
                <a:gridCol w="2171471">
                  <a:extLst>
                    <a:ext uri="{9D8B030D-6E8A-4147-A177-3AD203B41FA5}">
                      <a16:colId xmlns:a16="http://schemas.microsoft.com/office/drawing/2014/main" val="1052352718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316483609"/>
                    </a:ext>
                  </a:extLst>
                </a:gridCol>
              </a:tblGrid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 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obroty na sek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rad/s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 baseline="30000">
                          <a:effectLst/>
                        </a:rPr>
                        <a:t>o</a:t>
                      </a:r>
                      <a:r>
                        <a:rPr lang="pl-PL" sz="3300" u="none" strike="noStrike">
                          <a:effectLst/>
                        </a:rPr>
                        <a:t>/s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4068388702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Siatkówka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125,7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7200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166435461"/>
                  </a:ext>
                </a:extLst>
              </a:tr>
              <a:tr h="113842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koszykowa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37,7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2160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380860784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nożna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50,3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2880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2843969308"/>
                  </a:ext>
                </a:extLst>
              </a:tr>
              <a:tr h="6355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Piłka ręczna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18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113,1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3300" u="none" strike="noStrike">
                          <a:effectLst/>
                        </a:rPr>
                        <a:t>6480</a:t>
                      </a:r>
                      <a:endParaRPr lang="pl-PL" sz="33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2860" marR="22860" marT="22860" marB="0" anchor="b"/>
                </a:tc>
                <a:extLst>
                  <a:ext uri="{0D108BD9-81ED-4DB2-BD59-A6C34878D82A}">
                    <a16:rowId xmlns:a16="http://schemas.microsoft.com/office/drawing/2014/main" val="330002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50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B2FDB8-4429-972E-A3CA-83B0FDC57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Dostępne czujniki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08C0FAC-A52E-0D03-0BC4-8639097388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0197104"/>
              </p:ext>
            </p:extLst>
          </p:nvPr>
        </p:nvGraphicFramePr>
        <p:xfrm>
          <a:off x="2292515" y="1966293"/>
          <a:ext cx="7606971" cy="4452176"/>
        </p:xfrm>
        <a:graphic>
          <a:graphicData uri="http://schemas.openxmlformats.org/drawingml/2006/table">
            <a:tbl>
              <a:tblPr>
                <a:tableStyleId>{69012ECD-51FC-41F1-AA8D-1B2483CD663E}</a:tableStyleId>
              </a:tblPr>
              <a:tblGrid>
                <a:gridCol w="2285698">
                  <a:extLst>
                    <a:ext uri="{9D8B030D-6E8A-4147-A177-3AD203B41FA5}">
                      <a16:colId xmlns:a16="http://schemas.microsoft.com/office/drawing/2014/main" val="2096868303"/>
                    </a:ext>
                  </a:extLst>
                </a:gridCol>
                <a:gridCol w="2371019">
                  <a:extLst>
                    <a:ext uri="{9D8B030D-6E8A-4147-A177-3AD203B41FA5}">
                      <a16:colId xmlns:a16="http://schemas.microsoft.com/office/drawing/2014/main" val="2021592566"/>
                    </a:ext>
                  </a:extLst>
                </a:gridCol>
                <a:gridCol w="2950254">
                  <a:extLst>
                    <a:ext uri="{9D8B030D-6E8A-4147-A177-3AD203B41FA5}">
                      <a16:colId xmlns:a16="http://schemas.microsoft.com/office/drawing/2014/main" val="2784358822"/>
                    </a:ext>
                  </a:extLst>
                </a:gridCol>
              </a:tblGrid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Urzadzenie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IAM-20380HT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I3G4250DTR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6816885"/>
                  </a:ext>
                </a:extLst>
              </a:tr>
              <a:tr h="42453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Maks. Zakres FSR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>
                          <a:effectLst/>
                        </a:rPr>
                        <a:t>±250dps, ±500dps, ±1000dps, and ±2000dps,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±245/±500/±2000g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969207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Rozdzielczość ADCs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16 bit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16 bit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50320397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Odpornosc na wstrzasy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10000g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5847026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Zakres temperatur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-40°C to +105°C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-40°C to +85°C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225427140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Zasilanie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1,71V to  3,6V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2,4 V to 3,6V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52462919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Rozmiar kolejki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4096-byte FIFO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192-byte FIFO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01881336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Interfejsy cyfrowe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65610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I2C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400 kHz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708043197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SPI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8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10 MHz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514809380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Filtry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05160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dolnoprzepustowy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44130502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górnoprzepustowy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brak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programowalny, cyfrowy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819864575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Cena: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945094788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Evaluation board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33 $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13 $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850689103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Chip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11 $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9 $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205969179"/>
                  </a:ext>
                </a:extLst>
              </a:tr>
              <a:tr h="236920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Dodatkowe cechy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610392"/>
                  </a:ext>
                </a:extLst>
              </a:tr>
              <a:tr h="2369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 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>
                          <a:effectLst/>
                        </a:rPr>
                        <a:t>termometr</a:t>
                      </a:r>
                      <a:endParaRPr lang="pl-PL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200" u="none" strike="noStrike" dirty="0">
                          <a:effectLst/>
                        </a:rPr>
                        <a:t>termometr</a:t>
                      </a:r>
                      <a:endParaRPr lang="pl-PL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627437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7898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8128B-F3F5-0374-DC89-A323F2926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Wykrywanie, w którym miejscu została uderzona piłka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3D8DE-712B-7F95-2B6C-2C6A8F80E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Czujniki siły nacisku</a:t>
            </a:r>
          </a:p>
          <a:p>
            <a:pPr lvl="1"/>
            <a:r>
              <a:rPr lang="pl-PL" dirty="0"/>
              <a:t>Czujniki tensometryczne – do 50 kg(tylko do mierzenia ścisku piłki)</a:t>
            </a:r>
            <a:br>
              <a:rPr lang="pl-PL" dirty="0"/>
            </a:br>
            <a:r>
              <a:rPr lang="pl-PL" dirty="0"/>
              <a:t>Wolne, statyczne zmiany siły nacisku</a:t>
            </a:r>
          </a:p>
          <a:p>
            <a:pPr lvl="1"/>
            <a:r>
              <a:rPr lang="pl-PL" dirty="0"/>
              <a:t>Czujniki piezoelektryczne – do 15kgf</a:t>
            </a:r>
            <a:br>
              <a:rPr lang="pl-PL" dirty="0"/>
            </a:br>
            <a:r>
              <a:rPr lang="pl-PL" dirty="0"/>
              <a:t>Szybkie, krótkotrwałe zmiany siły nacisku</a:t>
            </a:r>
          </a:p>
          <a:p>
            <a:pPr marL="457200" lvl="1" indent="0">
              <a:buNone/>
            </a:pPr>
            <a:endParaRPr lang="pl-PL" dirty="0"/>
          </a:p>
          <a:p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122" name="Picture 2" descr="FSR06BE">
            <a:extLst>
              <a:ext uri="{FF2B5EF4-FFF2-40B4-BE49-F238E27FC236}">
                <a16:creationId xmlns:a16="http://schemas.microsoft.com/office/drawing/2014/main" id="{60FC08A9-8065-1678-D7E5-ED04F64C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522" y="3675274"/>
            <a:ext cx="2636626" cy="263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F7252CE-47A0-1CD6-25CD-754549B2A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4853" y="2994409"/>
            <a:ext cx="3605060" cy="360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629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25" name="Rectangle 9224">
            <a:extLst>
              <a:ext uri="{FF2B5EF4-FFF2-40B4-BE49-F238E27FC236}">
                <a16:creationId xmlns:a16="http://schemas.microsoft.com/office/drawing/2014/main" id="{95B1FC96-0749-41C9-BAED-E089E7714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9A668-F129-63CA-03B4-24D98992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62856"/>
            <a:ext cx="3419856" cy="1600200"/>
          </a:xfrm>
        </p:spPr>
        <p:txBody>
          <a:bodyPr anchor="ctr">
            <a:normAutofit/>
          </a:bodyPr>
          <a:lstStyle/>
          <a:p>
            <a:r>
              <a:rPr lang="pl-PL" sz="4100"/>
              <a:t>Mikrokontroler</a:t>
            </a:r>
          </a:p>
        </p:txBody>
      </p:sp>
      <p:pic>
        <p:nvPicPr>
          <p:cNvPr id="9218" name="Picture 2" descr="ESP32 WROOM 32E — SunFounder ESP32 Starter Kit documentation">
            <a:extLst>
              <a:ext uri="{FF2B5EF4-FFF2-40B4-BE49-F238E27FC236}">
                <a16:creationId xmlns:a16="http://schemas.microsoft.com/office/drawing/2014/main" id="{A1209F50-F9D1-6CAF-A086-513095BF3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2" b="1834"/>
          <a:stretch>
            <a:fillRect/>
          </a:stretch>
        </p:blipFill>
        <p:spPr bwMode="auto">
          <a:xfrm>
            <a:off x="5" y="10"/>
            <a:ext cx="6095995" cy="4196271"/>
          </a:xfrm>
          <a:custGeom>
            <a:avLst/>
            <a:gdLst/>
            <a:ahLst/>
            <a:cxnLst/>
            <a:rect l="l" t="t" r="r" b="b"/>
            <a:pathLst>
              <a:path w="6005375" h="4196281">
                <a:moveTo>
                  <a:pt x="0" y="0"/>
                </a:moveTo>
                <a:lnTo>
                  <a:pt x="6000672" y="0"/>
                </a:lnTo>
                <a:lnTo>
                  <a:pt x="5998730" y="19709"/>
                </a:lnTo>
                <a:cubicBezTo>
                  <a:pt x="6001245" y="280059"/>
                  <a:pt x="5986415" y="540409"/>
                  <a:pt x="5999656" y="800631"/>
                </a:cubicBezTo>
                <a:cubicBezTo>
                  <a:pt x="6009855" y="1001996"/>
                  <a:pt x="6003364" y="1203233"/>
                  <a:pt x="5999656" y="1404471"/>
                </a:cubicBezTo>
                <a:cubicBezTo>
                  <a:pt x="5992506" y="1790420"/>
                  <a:pt x="6003364" y="2175860"/>
                  <a:pt x="5998730" y="2561300"/>
                </a:cubicBezTo>
                <a:cubicBezTo>
                  <a:pt x="5996744" y="2732154"/>
                  <a:pt x="5998994" y="2902754"/>
                  <a:pt x="6003364" y="3073609"/>
                </a:cubicBezTo>
                <a:cubicBezTo>
                  <a:pt x="6009720" y="3317560"/>
                  <a:pt x="5999923" y="3561638"/>
                  <a:pt x="5989197" y="3805463"/>
                </a:cubicBezTo>
                <a:cubicBezTo>
                  <a:pt x="5985594" y="3872508"/>
                  <a:pt x="5984647" y="3939633"/>
                  <a:pt x="5986348" y="4006695"/>
                </a:cubicBezTo>
                <a:lnTo>
                  <a:pt x="5997254" y="4174633"/>
                </a:lnTo>
                <a:lnTo>
                  <a:pt x="5951601" y="4176620"/>
                </a:lnTo>
                <a:cubicBezTo>
                  <a:pt x="5886702" y="4176651"/>
                  <a:pt x="5821788" y="4174749"/>
                  <a:pt x="5756905" y="4173480"/>
                </a:cubicBezTo>
                <a:cubicBezTo>
                  <a:pt x="5518559" y="4169040"/>
                  <a:pt x="5280086" y="4173480"/>
                  <a:pt x="5042247" y="4150774"/>
                </a:cubicBezTo>
                <a:cubicBezTo>
                  <a:pt x="4977618" y="4144622"/>
                  <a:pt x="4912546" y="4140690"/>
                  <a:pt x="4847600" y="4141467"/>
                </a:cubicBezTo>
                <a:cubicBezTo>
                  <a:pt x="4782655" y="4142244"/>
                  <a:pt x="4717835" y="4147730"/>
                  <a:pt x="4653713" y="4160414"/>
                </a:cubicBezTo>
                <a:cubicBezTo>
                  <a:pt x="4446571" y="4200625"/>
                  <a:pt x="4238796" y="4203162"/>
                  <a:pt x="4029497" y="4186925"/>
                </a:cubicBezTo>
                <a:cubicBezTo>
                  <a:pt x="3943621" y="4180203"/>
                  <a:pt x="3857746" y="4169040"/>
                  <a:pt x="3771489" y="4171196"/>
                </a:cubicBezTo>
                <a:cubicBezTo>
                  <a:pt x="3623585" y="4175129"/>
                  <a:pt x="3475554" y="4167137"/>
                  <a:pt x="3327523" y="4169167"/>
                </a:cubicBezTo>
                <a:cubicBezTo>
                  <a:pt x="3323528" y="4169738"/>
                  <a:pt x="3319443" y="4169205"/>
                  <a:pt x="3315727" y="4167645"/>
                </a:cubicBezTo>
                <a:cubicBezTo>
                  <a:pt x="3278941" y="4142402"/>
                  <a:pt x="3238603" y="4152169"/>
                  <a:pt x="3200549" y="4158765"/>
                </a:cubicBezTo>
                <a:cubicBezTo>
                  <a:pt x="3074082" y="4180710"/>
                  <a:pt x="2947742" y="4191492"/>
                  <a:pt x="2819246" y="4174494"/>
                </a:cubicBezTo>
                <a:cubicBezTo>
                  <a:pt x="2696546" y="4156698"/>
                  <a:pt x="2572096" y="4154478"/>
                  <a:pt x="2448851" y="4167898"/>
                </a:cubicBezTo>
                <a:cubicBezTo>
                  <a:pt x="2279383" y="4187687"/>
                  <a:pt x="2110549" y="4183501"/>
                  <a:pt x="1941462" y="4167898"/>
                </a:cubicBezTo>
                <a:cubicBezTo>
                  <a:pt x="1872837" y="4161556"/>
                  <a:pt x="1803198" y="4150774"/>
                  <a:pt x="1735208" y="4166630"/>
                </a:cubicBezTo>
                <a:cubicBezTo>
                  <a:pt x="1651489" y="4186038"/>
                  <a:pt x="1568023" y="4179695"/>
                  <a:pt x="1484050" y="4175382"/>
                </a:cubicBezTo>
                <a:cubicBezTo>
                  <a:pt x="1377752" y="4169801"/>
                  <a:pt x="1271708" y="4153692"/>
                  <a:pt x="1165029" y="4166376"/>
                </a:cubicBezTo>
                <a:cubicBezTo>
                  <a:pt x="1115685" y="4172211"/>
                  <a:pt x="1066722" y="4181471"/>
                  <a:pt x="1016744" y="4179061"/>
                </a:cubicBezTo>
                <a:cubicBezTo>
                  <a:pt x="878481" y="4172719"/>
                  <a:pt x="740344" y="4165235"/>
                  <a:pt x="601826" y="4166376"/>
                </a:cubicBezTo>
                <a:cubicBezTo>
                  <a:pt x="543857" y="4166757"/>
                  <a:pt x="486268" y="4168659"/>
                  <a:pt x="428553" y="4172845"/>
                </a:cubicBezTo>
                <a:cubicBezTo>
                  <a:pt x="320859" y="4180710"/>
                  <a:pt x="213546" y="4170055"/>
                  <a:pt x="106234" y="4166249"/>
                </a:cubicBezTo>
                <a:lnTo>
                  <a:pt x="0" y="4171008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Arduino Nano 33 BLE Sense Rev2 ze złączami - ABX00070">
            <a:extLst>
              <a:ext uri="{FF2B5EF4-FFF2-40B4-BE49-F238E27FC236}">
                <a16:creationId xmlns:a16="http://schemas.microsoft.com/office/drawing/2014/main" id="{8C2D525B-A82E-40B4-1B05-403933F7D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9534"/>
          <a:stretch>
            <a:fillRect/>
          </a:stretch>
        </p:blipFill>
        <p:spPr bwMode="auto">
          <a:xfrm>
            <a:off x="6019800" y="10"/>
            <a:ext cx="6172195" cy="4187662"/>
          </a:xfrm>
          <a:custGeom>
            <a:avLst/>
            <a:gdLst/>
            <a:ahLst/>
            <a:cxnLst/>
            <a:rect l="l" t="t" r="r" b="b"/>
            <a:pathLst>
              <a:path w="6006950" h="4187672">
                <a:moveTo>
                  <a:pt x="9223" y="0"/>
                </a:moveTo>
                <a:lnTo>
                  <a:pt x="6006950" y="0"/>
                </a:lnTo>
                <a:lnTo>
                  <a:pt x="6006950" y="4169490"/>
                </a:lnTo>
                <a:lnTo>
                  <a:pt x="5787907" y="4174448"/>
                </a:lnTo>
                <a:cubicBezTo>
                  <a:pt x="5713866" y="4173475"/>
                  <a:pt x="5639861" y="4169853"/>
                  <a:pt x="5566029" y="4163587"/>
                </a:cubicBezTo>
                <a:cubicBezTo>
                  <a:pt x="5458843" y="4155595"/>
                  <a:pt x="5350768" y="4144559"/>
                  <a:pt x="5244343" y="4164855"/>
                </a:cubicBezTo>
                <a:cubicBezTo>
                  <a:pt x="5127517" y="4187307"/>
                  <a:pt x="5010817" y="4187434"/>
                  <a:pt x="4892977" y="4181726"/>
                </a:cubicBezTo>
                <a:cubicBezTo>
                  <a:pt x="4792260" y="4176906"/>
                  <a:pt x="4691923" y="4151536"/>
                  <a:pt x="4590445" y="4178301"/>
                </a:cubicBezTo>
                <a:cubicBezTo>
                  <a:pt x="4580348" y="4179772"/>
                  <a:pt x="4570061" y="4179341"/>
                  <a:pt x="4560128" y="4177032"/>
                </a:cubicBezTo>
                <a:cubicBezTo>
                  <a:pt x="4449137" y="4161684"/>
                  <a:pt x="4337384" y="4174242"/>
                  <a:pt x="4226013" y="4169929"/>
                </a:cubicBezTo>
                <a:cubicBezTo>
                  <a:pt x="4174640" y="4167899"/>
                  <a:pt x="4122252" y="4169041"/>
                  <a:pt x="4071513" y="4163587"/>
                </a:cubicBezTo>
                <a:cubicBezTo>
                  <a:pt x="3955067" y="4151156"/>
                  <a:pt x="3838874" y="4144559"/>
                  <a:pt x="3723697" y="4173861"/>
                </a:cubicBezTo>
                <a:cubicBezTo>
                  <a:pt x="3690082" y="4181764"/>
                  <a:pt x="3655732" y="4186013"/>
                  <a:pt x="3621204" y="4186546"/>
                </a:cubicBezTo>
                <a:cubicBezTo>
                  <a:pt x="3508437" y="4190605"/>
                  <a:pt x="3396050" y="4182867"/>
                  <a:pt x="3283664" y="4176525"/>
                </a:cubicBezTo>
                <a:cubicBezTo>
                  <a:pt x="3205652" y="4172085"/>
                  <a:pt x="3127768" y="4162445"/>
                  <a:pt x="3049630" y="4170563"/>
                </a:cubicBezTo>
                <a:cubicBezTo>
                  <a:pt x="3004218" y="4175257"/>
                  <a:pt x="2958427" y="4175257"/>
                  <a:pt x="2913015" y="4170563"/>
                </a:cubicBezTo>
                <a:cubicBezTo>
                  <a:pt x="2829321" y="4160758"/>
                  <a:pt x="2744879" y="4158931"/>
                  <a:pt x="2660842" y="4165109"/>
                </a:cubicBezTo>
                <a:cubicBezTo>
                  <a:pt x="2535390" y="4175891"/>
                  <a:pt x="2410065" y="4184897"/>
                  <a:pt x="2284232" y="4167773"/>
                </a:cubicBezTo>
                <a:cubicBezTo>
                  <a:pt x="2212868" y="4156559"/>
                  <a:pt x="2140312" y="4155240"/>
                  <a:pt x="2068592" y="4163840"/>
                </a:cubicBezTo>
                <a:cubicBezTo>
                  <a:pt x="1897729" y="4187814"/>
                  <a:pt x="1726485" y="4180077"/>
                  <a:pt x="1555241" y="4170183"/>
                </a:cubicBezTo>
                <a:cubicBezTo>
                  <a:pt x="1440824" y="4163460"/>
                  <a:pt x="1325901" y="4151156"/>
                  <a:pt x="1211738" y="4167392"/>
                </a:cubicBezTo>
                <a:cubicBezTo>
                  <a:pt x="1066118" y="4187688"/>
                  <a:pt x="920370" y="4180965"/>
                  <a:pt x="774368" y="4175003"/>
                </a:cubicBezTo>
                <a:cubicBezTo>
                  <a:pt x="667182" y="4170563"/>
                  <a:pt x="559869" y="4157117"/>
                  <a:pt x="452430" y="4173734"/>
                </a:cubicBezTo>
                <a:cubicBezTo>
                  <a:pt x="441369" y="4175244"/>
                  <a:pt x="430117" y="4174115"/>
                  <a:pt x="419576" y="4170436"/>
                </a:cubicBezTo>
                <a:cubicBezTo>
                  <a:pt x="378807" y="4157016"/>
                  <a:pt x="335096" y="4155215"/>
                  <a:pt x="293363" y="4165236"/>
                </a:cubicBezTo>
                <a:cubicBezTo>
                  <a:pt x="216367" y="4182106"/>
                  <a:pt x="139497" y="4189463"/>
                  <a:pt x="61105" y="4174115"/>
                </a:cubicBezTo>
                <a:lnTo>
                  <a:pt x="13323" y="4171265"/>
                </a:lnTo>
                <a:lnTo>
                  <a:pt x="28554" y="3843045"/>
                </a:lnTo>
                <a:cubicBezTo>
                  <a:pt x="30457" y="3722610"/>
                  <a:pt x="27412" y="3602256"/>
                  <a:pt x="15626" y="3482187"/>
                </a:cubicBezTo>
                <a:cubicBezTo>
                  <a:pt x="-847" y="3335690"/>
                  <a:pt x="-4304" y="3188124"/>
                  <a:pt x="5296" y="3041068"/>
                </a:cubicBezTo>
                <a:cubicBezTo>
                  <a:pt x="11786" y="2956911"/>
                  <a:pt x="18539" y="2872754"/>
                  <a:pt x="22776" y="2788472"/>
                </a:cubicBezTo>
                <a:cubicBezTo>
                  <a:pt x="28180" y="2668580"/>
                  <a:pt x="25173" y="2548474"/>
                  <a:pt x="13771" y="2428964"/>
                </a:cubicBezTo>
                <a:cubicBezTo>
                  <a:pt x="4237" y="2337829"/>
                  <a:pt x="3177" y="2246070"/>
                  <a:pt x="10593" y="2154757"/>
                </a:cubicBezTo>
                <a:cubicBezTo>
                  <a:pt x="25690" y="1999286"/>
                  <a:pt x="9931" y="1843813"/>
                  <a:pt x="5032" y="1688466"/>
                </a:cubicBezTo>
                <a:cubicBezTo>
                  <a:pt x="-3577" y="1402691"/>
                  <a:pt x="20393" y="1117045"/>
                  <a:pt x="9666" y="831270"/>
                </a:cubicBezTo>
                <a:cubicBezTo>
                  <a:pt x="3841" y="689908"/>
                  <a:pt x="16420" y="548673"/>
                  <a:pt x="9666" y="407311"/>
                </a:cubicBezTo>
                <a:cubicBezTo>
                  <a:pt x="4105" y="306755"/>
                  <a:pt x="397" y="206200"/>
                  <a:pt x="4105" y="105518"/>
                </a:cubicBezTo>
                <a:cubicBezTo>
                  <a:pt x="5164" y="78059"/>
                  <a:pt x="5826" y="50473"/>
                  <a:pt x="9534" y="23396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227" name="sketch line">
            <a:extLst>
              <a:ext uri="{FF2B5EF4-FFF2-40B4-BE49-F238E27FC236}">
                <a16:creationId xmlns:a16="http://schemas.microsoft.com/office/drawing/2014/main" id="{63C1A86C-B1A8-4AEC-B001-595C91716E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89020" y="5404538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1C43C-9D0C-971F-DE5B-36F362A0A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4562856"/>
            <a:ext cx="6903721" cy="1600200"/>
          </a:xfrm>
        </p:spPr>
        <p:txBody>
          <a:bodyPr anchor="ctr">
            <a:normAutofit/>
          </a:bodyPr>
          <a:lstStyle/>
          <a:p>
            <a:r>
              <a:rPr lang="pl-PL" sz="2200"/>
              <a:t>Wymagania:</a:t>
            </a:r>
          </a:p>
          <a:p>
            <a:pPr lvl="1"/>
            <a:r>
              <a:rPr lang="pl-PL" sz="2200"/>
              <a:t>Male wymiary</a:t>
            </a:r>
          </a:p>
          <a:p>
            <a:pPr lvl="1"/>
            <a:r>
              <a:rPr lang="pl-PL" sz="2200"/>
              <a:t>Małe zużycie energii</a:t>
            </a:r>
          </a:p>
          <a:p>
            <a:pPr lvl="1"/>
            <a:r>
              <a:rPr lang="pl-PL" sz="2200"/>
              <a:t>Łączność bezprzewodowa</a:t>
            </a:r>
          </a:p>
          <a:p>
            <a:pPr lvl="1"/>
            <a:endParaRPr lang="pl-PL" sz="2200"/>
          </a:p>
          <a:p>
            <a:pPr lvl="1"/>
            <a:endParaRPr lang="pl-PL" sz="2200"/>
          </a:p>
        </p:txBody>
      </p:sp>
    </p:spTree>
    <p:extLst>
      <p:ext uri="{BB962C8B-B14F-4D97-AF65-F5344CB8AC3E}">
        <p14:creationId xmlns:p14="http://schemas.microsoft.com/office/powerpoint/2010/main" val="1706452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18E52-0AE9-AF9B-D9E4-78B52D30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Rozwiązania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4794EB-CDB9-F0DC-4A20-66D1928BD6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6555451"/>
              </p:ext>
            </p:extLst>
          </p:nvPr>
        </p:nvGraphicFramePr>
        <p:xfrm>
          <a:off x="1187918" y="2112579"/>
          <a:ext cx="9840105" cy="41928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1582">
                  <a:extLst>
                    <a:ext uri="{9D8B030D-6E8A-4147-A177-3AD203B41FA5}">
                      <a16:colId xmlns:a16="http://schemas.microsoft.com/office/drawing/2014/main" val="1586825038"/>
                    </a:ext>
                  </a:extLst>
                </a:gridCol>
                <a:gridCol w="3343358">
                  <a:extLst>
                    <a:ext uri="{9D8B030D-6E8A-4147-A177-3AD203B41FA5}">
                      <a16:colId xmlns:a16="http://schemas.microsoft.com/office/drawing/2014/main" val="3532842696"/>
                    </a:ext>
                  </a:extLst>
                </a:gridCol>
                <a:gridCol w="4155165">
                  <a:extLst>
                    <a:ext uri="{9D8B030D-6E8A-4147-A177-3AD203B41FA5}">
                      <a16:colId xmlns:a16="http://schemas.microsoft.com/office/drawing/2014/main" val="1084786239"/>
                    </a:ext>
                  </a:extLst>
                </a:gridCol>
              </a:tblGrid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Esp 32-WROOM-32EU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Nano 33 BLE Rev2*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18681721"/>
                  </a:ext>
                </a:extLst>
              </a:tr>
              <a:tr h="5077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Procesor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Xtensa® dual-core 32-bit LX6 microprocessor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Arm® Cortex®-M4F (z FPU)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19814809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Czestotliwosc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240 MHz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64 MHz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382426477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Flash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4 - 16 MB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1 MB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557641910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RAM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520 kB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256 kB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20267898"/>
                  </a:ext>
                </a:extLst>
              </a:tr>
              <a:tr h="28346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Łączność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097903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Wifi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500" u="none" strike="noStrike">
                          <a:effectLst/>
                        </a:rPr>
                        <a:t>802.11b/g/n (do 150 Mbps)</a:t>
                      </a:r>
                      <a:endParaRPr lang="pt-BR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brak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723536418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Bluetooth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u="none" strike="noStrike">
                          <a:effectLst/>
                        </a:rPr>
                        <a:t>Bluetooth V4.2 BR/EDR i Bluetooth LE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Bluetooth 5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4109873665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Wyjścia GPIO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30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641848838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Interfejsy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3x UART, 3x SPI, 2x I2C (2x I2S)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QSPI/SPI/TWI/I²S/PDM/QDEC/I2C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3950177803"/>
                  </a:ext>
                </a:extLst>
              </a:tr>
              <a:tr h="28346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Dodatkowe elementy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2943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Akcelererometr - do 16g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898115570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Żyroskop - 2000 dps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2541030412"/>
                  </a:ext>
                </a:extLst>
              </a:tr>
              <a:tr h="2834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 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l-PL" sz="1500" u="none" strike="noStrike">
                          <a:effectLst/>
                        </a:rPr>
                        <a:t>Magnetometr 3 osiowy</a:t>
                      </a:r>
                      <a:endParaRPr lang="pl-PL" sz="15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10197" marR="10197" marT="10197" marB="0" anchor="b"/>
                </a:tc>
                <a:extLst>
                  <a:ext uri="{0D108BD9-81ED-4DB2-BD59-A6C34878D82A}">
                    <a16:rowId xmlns:a16="http://schemas.microsoft.com/office/drawing/2014/main" val="736513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6087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524</Words>
  <Application>Microsoft Office PowerPoint</Application>
  <PresentationFormat>Widescreen</PresentationFormat>
  <Paragraphs>205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Aptos Narrow</vt:lpstr>
      <vt:lpstr>Arial</vt:lpstr>
      <vt:lpstr>Calibri</vt:lpstr>
      <vt:lpstr>Office Theme</vt:lpstr>
      <vt:lpstr>Smart-piłka</vt:lpstr>
      <vt:lpstr>Wymagania</vt:lpstr>
      <vt:lpstr>Akcelerometr 3-osiowy</vt:lpstr>
      <vt:lpstr>Szacowanie wymaganych parametrów</vt:lpstr>
      <vt:lpstr>Dostępne czujniki</vt:lpstr>
      <vt:lpstr>Żyroskop 3-osiowy</vt:lpstr>
      <vt:lpstr>Wymagane parametry</vt:lpstr>
      <vt:lpstr>Dostępne czujniki</vt:lpstr>
      <vt:lpstr>Wykrywanie, w którym miejscu została uderzona piłka</vt:lpstr>
      <vt:lpstr>Mikrokontroler</vt:lpstr>
      <vt:lpstr>Rozwiązania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Szymon Mamok</dc:creator>
  <cp:lastModifiedBy>Szymon Mamok</cp:lastModifiedBy>
  <cp:revision>6</cp:revision>
  <dcterms:created xsi:type="dcterms:W3CDTF">2025-10-02T07:33:59Z</dcterms:created>
  <dcterms:modified xsi:type="dcterms:W3CDTF">2025-10-07T11:58:26Z</dcterms:modified>
</cp:coreProperties>
</file>