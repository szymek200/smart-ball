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69" r:id="rId4"/>
    <p:sldId id="270" r:id="rId5"/>
    <p:sldId id="257" r:id="rId6"/>
    <p:sldId id="262" r:id="rId7"/>
    <p:sldId id="263" r:id="rId8"/>
    <p:sldId id="258" r:id="rId9"/>
    <p:sldId id="264" r:id="rId10"/>
    <p:sldId id="265" r:id="rId11"/>
    <p:sldId id="261" r:id="rId12"/>
    <p:sldId id="266" r:id="rId13"/>
    <p:sldId id="267" r:id="rId14"/>
    <p:sldId id="271" r:id="rId15"/>
    <p:sldId id="268" r:id="rId16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18" autoAdjust="0"/>
    <p:restoredTop sz="94637"/>
  </p:normalViewPr>
  <p:slideViewPr>
    <p:cSldViewPr snapToGrid="0">
      <p:cViewPr varScale="1">
        <p:scale>
          <a:sx n="101" d="100"/>
          <a:sy n="101" d="100"/>
        </p:scale>
        <p:origin x="14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759A3-CAA2-40DA-AA5E-716B696E05E3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7B9CAA-5604-43F1-94F3-B12E66300A0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345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7B9CAA-5604-43F1-94F3-B12E66300A05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98694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CB42D-2CA4-3042-1059-C52AE8DCD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702C3-0AB8-3359-9AAE-744700D50A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B77-6312-7859-C3ED-2B96F2990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DC8F5-AC9E-082C-DA2F-532EE9CF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6EA60-0ADB-7EEB-4753-764319D4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92235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9EB6-1A90-2652-9806-2D07DBBDC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028C5-5FCB-4003-F385-ED41C8B73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11085-2AA7-D68B-D54A-FE1B10F3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B5DA3-5E0F-FE60-307E-A77E565A4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A5324-D5F5-BAA1-F990-D152795AC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6972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B1367-66AA-69DE-D882-D4743F211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81733-5EB8-4AE8-D69E-723254033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3B528-037C-E844-9032-081E82A2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DD8D0-3F91-1CA5-DA5F-7A3C95AF4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5F827-78FB-291F-A6D9-98378B0A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20298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B5E28-38FC-2979-0238-462577FE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07380-0B32-955C-5951-B83C592B7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A55DF7-4710-6A09-E408-81F35AF10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62C9-4B4C-D20B-DBC4-56764E675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C2E03-E6D3-D5CA-41BE-9A711219F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D59CFC-50F5-C5A6-D0C7-5CD4191C6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59054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0D01-8F3C-5C6B-9B57-2C6BC472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6618F-734D-8080-3C09-56C683817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D17D4-263F-5F0C-A860-19D9D79B9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46385D-1960-016A-8707-847FB16831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565E7-785D-C417-3943-8DD6CDA43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890128-BD1C-80B9-0413-059F2DF58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B371D9-7455-6338-F2EC-782B20E37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F7E741-DD80-DEDD-4B26-59F7FB658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40397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217E-8D80-5558-1E36-3F0850740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44DB2-0C56-A630-81E8-70AB1C96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CB50E4-93E9-9220-C5D1-385AE9579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02A9C-43E0-ACA8-DCDE-CAD7EBAD3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4781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608B49-CBC6-525E-872D-8541E625A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06850B-2FFA-9E13-6A2A-3C1020F8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693FA-B3A6-2E36-321A-5703CF04F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7134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90DE-6729-9061-5223-41283EE7B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4EA70-2E4F-7737-3435-1D80C1366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EE90FF-0867-6A5F-2A47-EFEFD2990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D39A1-82B6-E871-374B-6B47029BE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6E57C-9A3A-D195-66FF-2E62EF4FE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BEE4E4-C97C-DC12-155D-2F33339B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032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46024-1932-E440-D420-129E4E15B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EB8783-2307-60CD-0629-14A102262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1C68B-74D2-1562-3E2C-C3FD27DB1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2320A-9B6F-544D-532C-8511127A2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4FD70E-729F-F08D-5F94-27E8EC82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1E564-0F96-C70F-EAF4-39D8EDBF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6192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C2C09-5E7A-2BA6-886F-C36F85227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C395D3-0B68-8813-BDDE-CF2071921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172BB-1F9D-F9EF-4691-6546DF8E7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B5455-0034-DB0B-2A97-25748E1E3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5A784-4EC3-7A81-AC93-51C81FADD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16636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A28E39-453F-350C-7406-DBAB8CCDFD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D560A-5C07-9B01-A7B7-8729356E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22672-2E42-EA63-66DA-EE35FA60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055F5-42BB-C078-1E27-B9A3B267A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1FD1A-9B0E-AB8C-7BBD-7D1858B25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402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FE6E7F-81B3-8DF0-4C7F-9F34BBFF1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FFF9B-2F76-84F3-FA4D-4589A7EAD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672E7-C429-9E63-6ED1-DEBC6DEF8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95F02D-787D-418D-91FA-B9ACD8A789B6}" type="datetimeFigureOut">
              <a:rPr lang="pl-PL" smtClean="0"/>
              <a:t>29.10.2025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D546E-EDFB-3633-661B-8246B9F06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5DCD0-624D-191E-7A1B-29D0122EB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4245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Rectangle 10248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51" name="Rectangle 10250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adidas smart ball Cheap Sale - OFF 55%">
            <a:extLst>
              <a:ext uri="{FF2B5EF4-FFF2-40B4-BE49-F238E27FC236}">
                <a16:creationId xmlns:a16="http://schemas.microsoft.com/office/drawing/2014/main" id="{2E816FD0-FCD7-818D-149A-AC44019DE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49" r="2" b="16847"/>
          <a:stretch>
            <a:fillRect/>
          </a:stretch>
        </p:blipFill>
        <p:spPr bwMode="auto">
          <a:xfrm>
            <a:off x="4038599" y="10"/>
            <a:ext cx="8160026" cy="687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3" name="Freeform: Shape 10252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64B417-7010-3CE9-B372-D0A5293AB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4473" y="2950387"/>
            <a:ext cx="3052293" cy="3531403"/>
          </a:xfrm>
        </p:spPr>
        <p:txBody>
          <a:bodyPr anchor="t">
            <a:normAutofit/>
          </a:bodyPr>
          <a:lstStyle/>
          <a:p>
            <a:pPr algn="r"/>
            <a:r>
              <a:rPr lang="pl-PL" sz="4000">
                <a:solidFill>
                  <a:srgbClr val="FFFFFF"/>
                </a:solidFill>
              </a:rPr>
              <a:t>Smart-piłka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27D91C-A08C-D975-3AF0-31C0DF3FE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922" y="743803"/>
            <a:ext cx="2808844" cy="1382392"/>
          </a:xfrm>
        </p:spPr>
        <p:txBody>
          <a:bodyPr anchor="b">
            <a:normAutofit/>
          </a:bodyPr>
          <a:lstStyle/>
          <a:p>
            <a:pPr algn="r"/>
            <a:endParaRPr lang="pl-PL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287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8C292-2925-95EB-6340-DA370F791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Wymagania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927C8-3656-6CDF-F34B-6CB53E8B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Wykrywanie:</a:t>
            </a:r>
          </a:p>
          <a:p>
            <a:pPr lvl="1"/>
            <a:r>
              <a:rPr lang="pl-PL" dirty="0"/>
              <a:t>Przyśpieszenia liniowego </a:t>
            </a:r>
          </a:p>
          <a:p>
            <a:pPr lvl="1"/>
            <a:r>
              <a:rPr lang="pl-PL" dirty="0"/>
              <a:t>przyśpieszenia kątowego</a:t>
            </a:r>
          </a:p>
          <a:p>
            <a:r>
              <a:rPr lang="pl-PL" dirty="0"/>
              <a:t>Łączność bezprzewodowa do wymiany informacji z telefonem</a:t>
            </a:r>
          </a:p>
          <a:p>
            <a:pPr lvl="1"/>
            <a:r>
              <a:rPr lang="pl-PL" dirty="0"/>
              <a:t>Bluetooth </a:t>
            </a:r>
          </a:p>
        </p:txBody>
      </p:sp>
    </p:spTree>
    <p:extLst>
      <p:ext uri="{BB962C8B-B14F-4D97-AF65-F5344CB8AC3E}">
        <p14:creationId xmlns:p14="http://schemas.microsoft.com/office/powerpoint/2010/main" val="316417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66FB-8A4C-1D3F-748A-1E8F7E05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PL" dirty="0"/>
              <a:t>Schemat blokowy systemu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55E78-CD2F-F8DD-3CE9-01960BD0B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L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45E5155-2DB8-2DD5-69C3-EB033FAE1543}"/>
              </a:ext>
            </a:extLst>
          </p:cNvPr>
          <p:cNvSpPr/>
          <p:nvPr/>
        </p:nvSpPr>
        <p:spPr>
          <a:xfrm>
            <a:off x="4564453" y="3429000"/>
            <a:ext cx="3063094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Mikroprocesor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FBF06F0-C747-6C27-2DF6-9726FB61D10F}"/>
              </a:ext>
            </a:extLst>
          </p:cNvPr>
          <p:cNvSpPr/>
          <p:nvPr/>
        </p:nvSpPr>
        <p:spPr>
          <a:xfrm>
            <a:off x="4842295" y="5432455"/>
            <a:ext cx="2460324" cy="8794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Zasilanie akumulatorowe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0B0CA-8DB2-BBD1-F190-2AE110EDD099}"/>
              </a:ext>
            </a:extLst>
          </p:cNvPr>
          <p:cNvSpPr/>
          <p:nvPr/>
        </p:nvSpPr>
        <p:spPr>
          <a:xfrm>
            <a:off x="9135374" y="3429000"/>
            <a:ext cx="2218426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Żyroskop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CD7D339-C9A3-78E1-19A8-6DD3637A305D}"/>
              </a:ext>
            </a:extLst>
          </p:cNvPr>
          <p:cNvSpPr/>
          <p:nvPr/>
        </p:nvSpPr>
        <p:spPr>
          <a:xfrm>
            <a:off x="860215" y="3429000"/>
            <a:ext cx="2129287" cy="1362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Akcelerometr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FAEA492-6570-57E4-3383-AE82B486D334}"/>
              </a:ext>
            </a:extLst>
          </p:cNvPr>
          <p:cNvSpPr/>
          <p:nvPr/>
        </p:nvSpPr>
        <p:spPr>
          <a:xfrm>
            <a:off x="4842294" y="1387347"/>
            <a:ext cx="2460324" cy="9438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Moduł bluetooth</a:t>
            </a:r>
          </a:p>
        </p:txBody>
      </p:sp>
      <p:sp>
        <p:nvSpPr>
          <p:cNvPr id="12" name="Up-down Arrow 11">
            <a:extLst>
              <a:ext uri="{FF2B5EF4-FFF2-40B4-BE49-F238E27FC236}">
                <a16:creationId xmlns:a16="http://schemas.microsoft.com/office/drawing/2014/main" id="{EFF4E1A0-0FEE-082B-65BA-A33F62CCE483}"/>
              </a:ext>
            </a:extLst>
          </p:cNvPr>
          <p:cNvSpPr/>
          <p:nvPr/>
        </p:nvSpPr>
        <p:spPr>
          <a:xfrm>
            <a:off x="5830917" y="2497850"/>
            <a:ext cx="483079" cy="813772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L" dirty="0"/>
          </a:p>
        </p:txBody>
      </p:sp>
      <p:sp>
        <p:nvSpPr>
          <p:cNvPr id="13" name="Left-right Arrow 12">
            <a:extLst>
              <a:ext uri="{FF2B5EF4-FFF2-40B4-BE49-F238E27FC236}">
                <a16:creationId xmlns:a16="http://schemas.microsoft.com/office/drawing/2014/main" id="{FB1FCDF3-E663-1F57-349F-2DF701616FD0}"/>
              </a:ext>
            </a:extLst>
          </p:cNvPr>
          <p:cNvSpPr/>
          <p:nvPr/>
        </p:nvSpPr>
        <p:spPr>
          <a:xfrm>
            <a:off x="3056626" y="3860321"/>
            <a:ext cx="1216324" cy="5003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SPI</a:t>
            </a:r>
          </a:p>
        </p:txBody>
      </p: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E84CEC93-9E1F-42A1-0291-706A0146E8CC}"/>
              </a:ext>
            </a:extLst>
          </p:cNvPr>
          <p:cNvSpPr/>
          <p:nvPr/>
        </p:nvSpPr>
        <p:spPr>
          <a:xfrm>
            <a:off x="7773298" y="3860321"/>
            <a:ext cx="1216324" cy="50033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L" dirty="0"/>
              <a:t>SPI</a:t>
            </a:r>
          </a:p>
        </p:txBody>
      </p:sp>
      <p:sp>
        <p:nvSpPr>
          <p:cNvPr id="5" name="Strzałka: w górę 4">
            <a:extLst>
              <a:ext uri="{FF2B5EF4-FFF2-40B4-BE49-F238E27FC236}">
                <a16:creationId xmlns:a16="http://schemas.microsoft.com/office/drawing/2014/main" id="{809714AE-1FB0-2790-18BB-B1BEAD6D0818}"/>
              </a:ext>
            </a:extLst>
          </p:cNvPr>
          <p:cNvSpPr/>
          <p:nvPr/>
        </p:nvSpPr>
        <p:spPr>
          <a:xfrm>
            <a:off x="5830916" y="4864867"/>
            <a:ext cx="483079" cy="49469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1412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B5A6D-5EF3-D085-378D-9904EB4FE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Funkcjonalności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BAD60-911C-5920-4B42-43DB680C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L" dirty="0"/>
              <a:t>Pomiar:</a:t>
            </a:r>
          </a:p>
          <a:p>
            <a:pPr lvl="1"/>
            <a:r>
              <a:rPr lang="en-PL" dirty="0"/>
              <a:t>podkręcenia piłki</a:t>
            </a:r>
          </a:p>
          <a:p>
            <a:pPr lvl="1"/>
            <a:r>
              <a:rPr lang="en-PL" dirty="0"/>
              <a:t>siły uderzenia</a:t>
            </a:r>
          </a:p>
          <a:p>
            <a:r>
              <a:rPr lang="en-PL" dirty="0"/>
              <a:t>Wyznaczenie toru lotu piłki</a:t>
            </a:r>
          </a:p>
          <a:p>
            <a:r>
              <a:rPr lang="en-PL" dirty="0"/>
              <a:t>Aproksymacja miejsca uderzenia/kopnięcia</a:t>
            </a:r>
          </a:p>
          <a:p>
            <a:r>
              <a:rPr lang="en-PL" dirty="0"/>
              <a:t>Gromadzenie </a:t>
            </a:r>
            <a:r>
              <a:rPr lang="en-GB" dirty="0"/>
              <a:t>i</a:t>
            </a:r>
            <a:r>
              <a:rPr lang="en-PL" dirty="0"/>
              <a:t> wyświetlanie informacji w aplikacji mobilnej</a:t>
            </a:r>
          </a:p>
          <a:p>
            <a:pPr marL="0" indent="0">
              <a:buNone/>
            </a:pPr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2474828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532AA5-8241-2623-AA14-FF91BD2A0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anchor="ctr">
            <a:normAutofit/>
          </a:bodyPr>
          <a:lstStyle/>
          <a:p>
            <a:r>
              <a:rPr lang="pl-PL" sz="4600"/>
              <a:t>Akcelerometr 3-osiowy</a:t>
            </a:r>
          </a:p>
        </p:txBody>
      </p:sp>
      <p:sp>
        <p:nvSpPr>
          <p:cNvPr id="6153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Przyspieszenie Filmy Stock – 10,493 Przyspieszenie Video Stock - Dreamstime">
            <a:extLst>
              <a:ext uri="{FF2B5EF4-FFF2-40B4-BE49-F238E27FC236}">
                <a16:creationId xmlns:a16="http://schemas.microsoft.com/office/drawing/2014/main" id="{35E306EA-30F8-0CFF-4749-E5572C485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648652"/>
            <a:ext cx="6894576" cy="3878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54C5-2D63-43A4-8170-33918852C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4798577"/>
            <a:ext cx="6894576" cy="1428487"/>
          </a:xfrm>
        </p:spPr>
        <p:txBody>
          <a:bodyPr anchor="t">
            <a:normAutofit/>
          </a:bodyPr>
          <a:lstStyle/>
          <a:p>
            <a:r>
              <a:rPr lang="pl-PL" sz="2200"/>
              <a:t>Pomiar przyśpieszenia liniowego</a:t>
            </a:r>
          </a:p>
          <a:p>
            <a:pPr lvl="1"/>
            <a:r>
              <a:rPr lang="pl-PL" sz="2200"/>
              <a:t>wykrywanie zderzeń</a:t>
            </a:r>
          </a:p>
          <a:p>
            <a:pPr lvl="1"/>
            <a:r>
              <a:rPr lang="pl-PL" sz="2200"/>
              <a:t>Szacowanie prędkości</a:t>
            </a:r>
          </a:p>
        </p:txBody>
      </p:sp>
    </p:spTree>
    <p:extLst>
      <p:ext uri="{BB962C8B-B14F-4D97-AF65-F5344CB8AC3E}">
        <p14:creationId xmlns:p14="http://schemas.microsoft.com/office/powerpoint/2010/main" val="265047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36CE4B-41E3-5FBB-8FFD-05B848527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pl-PL" sz="3200"/>
              <a:t>Szacowanie wymaganych parametrów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E9C9B-D058-50A6-989C-553A97FE8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pl-PL" sz="1800" dirty="0"/>
              <a:t>pomiar o wysokiej rozdzielczości do ±400 g.</a:t>
            </a:r>
          </a:p>
          <a:p>
            <a:r>
              <a:rPr lang="pl-PL" sz="1800" dirty="0"/>
              <a:t>Pomiar w 3 wymiarach</a:t>
            </a:r>
          </a:p>
          <a:p>
            <a:pPr marL="0" indent="0">
              <a:buNone/>
            </a:pPr>
            <a:endParaRPr lang="pl-PL" sz="1800" dirty="0"/>
          </a:p>
          <a:p>
            <a:pPr marL="0" indent="0">
              <a:buNone/>
            </a:pPr>
            <a:endParaRPr lang="pl-PL" sz="18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A34A96A-F457-9D4D-C4A1-7169DCFD4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356880"/>
              </p:ext>
            </p:extLst>
          </p:nvPr>
        </p:nvGraphicFramePr>
        <p:xfrm>
          <a:off x="557784" y="3001224"/>
          <a:ext cx="11164826" cy="294953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78250">
                  <a:extLst>
                    <a:ext uri="{9D8B030D-6E8A-4147-A177-3AD203B41FA5}">
                      <a16:colId xmlns:a16="http://schemas.microsoft.com/office/drawing/2014/main" val="974519457"/>
                    </a:ext>
                  </a:extLst>
                </a:gridCol>
                <a:gridCol w="1920015">
                  <a:extLst>
                    <a:ext uri="{9D8B030D-6E8A-4147-A177-3AD203B41FA5}">
                      <a16:colId xmlns:a16="http://schemas.microsoft.com/office/drawing/2014/main" val="2325904730"/>
                    </a:ext>
                  </a:extLst>
                </a:gridCol>
                <a:gridCol w="3330308">
                  <a:extLst>
                    <a:ext uri="{9D8B030D-6E8A-4147-A177-3AD203B41FA5}">
                      <a16:colId xmlns:a16="http://schemas.microsoft.com/office/drawing/2014/main" val="23346387"/>
                    </a:ext>
                  </a:extLst>
                </a:gridCol>
                <a:gridCol w="2594940">
                  <a:extLst>
                    <a:ext uri="{9D8B030D-6E8A-4147-A177-3AD203B41FA5}">
                      <a16:colId xmlns:a16="http://schemas.microsoft.com/office/drawing/2014/main" val="349010716"/>
                    </a:ext>
                  </a:extLst>
                </a:gridCol>
                <a:gridCol w="1641313">
                  <a:extLst>
                    <a:ext uri="{9D8B030D-6E8A-4147-A177-3AD203B41FA5}">
                      <a16:colId xmlns:a16="http://schemas.microsoft.com/office/drawing/2014/main" val="1713428280"/>
                    </a:ext>
                  </a:extLst>
                </a:gridCol>
              </a:tblGrid>
              <a:tr h="80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 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Czas uderzenia [s]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Szybkość serwisu/uderzenia [m/s]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Maks przyśpieszenie [g]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Bandwidth [Hz]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extLst>
                  <a:ext uri="{0D108BD9-81ED-4DB2-BD59-A6C34878D82A}">
                    <a16:rowId xmlns:a16="http://schemas.microsoft.com/office/drawing/2014/main" val="102399070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Siatkówka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0,005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300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80533910"/>
                  </a:ext>
                </a:extLst>
              </a:tr>
              <a:tr h="8026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koszykowa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0,008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12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62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74227382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nożna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0,01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17899356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ręczna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0,003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25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850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170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53246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051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93F67-DEF4-66F7-47A1-6F5F1930E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Dostępne czujniki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486C62C-7A35-5362-8B86-99991CA62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4585083"/>
              </p:ext>
            </p:extLst>
          </p:nvPr>
        </p:nvGraphicFramePr>
        <p:xfrm>
          <a:off x="2560945" y="2112579"/>
          <a:ext cx="7094053" cy="41928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431">
                  <a:extLst>
                    <a:ext uri="{9D8B030D-6E8A-4147-A177-3AD203B41FA5}">
                      <a16:colId xmlns:a16="http://schemas.microsoft.com/office/drawing/2014/main" val="2215731233"/>
                    </a:ext>
                  </a:extLst>
                </a:gridCol>
                <a:gridCol w="2503533">
                  <a:extLst>
                    <a:ext uri="{9D8B030D-6E8A-4147-A177-3AD203B41FA5}">
                      <a16:colId xmlns:a16="http://schemas.microsoft.com/office/drawing/2014/main" val="3609771096"/>
                    </a:ext>
                  </a:extLst>
                </a:gridCol>
                <a:gridCol w="2388089">
                  <a:extLst>
                    <a:ext uri="{9D8B030D-6E8A-4147-A177-3AD203B41FA5}">
                      <a16:colId xmlns:a16="http://schemas.microsoft.com/office/drawing/2014/main" val="280550003"/>
                    </a:ext>
                  </a:extLst>
                </a:gridCol>
              </a:tblGrid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 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H3LIS331DL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b="1" u="none" strike="noStrike" dirty="0">
                          <a:effectLst/>
                        </a:rPr>
                        <a:t>ADXL 373</a:t>
                      </a:r>
                      <a:endParaRPr lang="pl-PL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103961148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Skala pomiarowa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100/200/400g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0997449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ODR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0,5 </a:t>
                      </a:r>
                      <a:r>
                        <a:rPr lang="pl-PL" sz="1400" u="none" strike="noStrike" dirty="0" err="1">
                          <a:effectLst/>
                        </a:rPr>
                        <a:t>Hz</a:t>
                      </a:r>
                      <a:r>
                        <a:rPr lang="pl-PL" sz="1400" u="none" strike="noStrike" dirty="0">
                          <a:effectLst/>
                        </a:rPr>
                        <a:t> - 1 kHz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b="1" u="none" strike="noStrike" dirty="0">
                          <a:effectLst/>
                        </a:rPr>
                        <a:t>160 </a:t>
                      </a:r>
                      <a:r>
                        <a:rPr lang="pl-PL" sz="1400" b="1" u="none" strike="noStrike" dirty="0" err="1">
                          <a:effectLst/>
                        </a:rPr>
                        <a:t>Hz</a:t>
                      </a:r>
                      <a:r>
                        <a:rPr lang="pl-PL" sz="1400" b="1" u="none" strike="noStrike" dirty="0">
                          <a:effectLst/>
                        </a:rPr>
                        <a:t> - 2560 </a:t>
                      </a:r>
                      <a:r>
                        <a:rPr lang="pl-PL" sz="1400" b="1" u="none" strike="noStrike" dirty="0" err="1">
                          <a:effectLst/>
                        </a:rPr>
                        <a:t>Hz</a:t>
                      </a:r>
                      <a:endParaRPr lang="pl-PL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451481955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Zakres temp.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-40 to +85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−40°C to +105°C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157030397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Zasilanie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2.16 V to 3.6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1.6 V to 3.5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00944750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Tryb oszczedny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7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19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9850040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Wytrzymałość na uderzenia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74663790"/>
                  </a:ext>
                </a:extLst>
              </a:tr>
              <a:tr h="47563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Rozdzielczość danych wyjściowych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71454834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Współczynnik skali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195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200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772308375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Interfejsy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34613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I2C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 kHz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3,4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946800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SPI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925303917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Cena: 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366983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Evaluation board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18 $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36 $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95111857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Chip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11 $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18 $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0317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039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063FFD-009E-C959-B824-E0E86318F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pl-PL" sz="5400"/>
              <a:t>Żyroskop 3-osiowy</a:t>
            </a:r>
          </a:p>
        </p:txBody>
      </p:sp>
      <p:sp>
        <p:nvSpPr>
          <p:cNvPr id="717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F77DB-C7E5-6060-1F26-711BFC24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pl-PL" sz="2200"/>
              <a:t>Pomiar przyśpieszenia kątowego</a:t>
            </a:r>
          </a:p>
          <a:p>
            <a:pPr lvl="1"/>
            <a:r>
              <a:rPr lang="pl-PL" sz="2200"/>
              <a:t>Pomiar podkręcenia piłki</a:t>
            </a:r>
          </a:p>
        </p:txBody>
      </p:sp>
      <p:pic>
        <p:nvPicPr>
          <p:cNvPr id="2050" name="Picture 2" descr="Triple circular arrows symbol - Free arrows icons">
            <a:extLst>
              <a:ext uri="{FF2B5EF4-FFF2-40B4-BE49-F238E27FC236}">
                <a16:creationId xmlns:a16="http://schemas.microsoft.com/office/drawing/2014/main" id="{E81C4042-35F0-3B79-EDFB-3F3CCF163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695" y="66675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929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F4F5FF-BA56-4B9C-4BFB-4E35444D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Wymagane parametry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5141E4-41DB-E248-650A-32A44A0680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4981668"/>
              </p:ext>
            </p:extLst>
          </p:nvPr>
        </p:nvGraphicFramePr>
        <p:xfrm>
          <a:off x="1362729" y="2368751"/>
          <a:ext cx="9490481" cy="3680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4292706918"/>
                    </a:ext>
                  </a:extLst>
                </a:gridCol>
                <a:gridCol w="2747010">
                  <a:extLst>
                    <a:ext uri="{9D8B030D-6E8A-4147-A177-3AD203B41FA5}">
                      <a16:colId xmlns:a16="http://schemas.microsoft.com/office/drawing/2014/main" val="3081990072"/>
                    </a:ext>
                  </a:extLst>
                </a:gridCol>
                <a:gridCol w="2171471">
                  <a:extLst>
                    <a:ext uri="{9D8B030D-6E8A-4147-A177-3AD203B41FA5}">
                      <a16:colId xmlns:a16="http://schemas.microsoft.com/office/drawing/2014/main" val="105235271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316483609"/>
                    </a:ext>
                  </a:extLst>
                </a:gridCol>
              </a:tblGrid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 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obroty na sek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rad/s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 baseline="30000">
                          <a:effectLst/>
                        </a:rPr>
                        <a:t>o</a:t>
                      </a:r>
                      <a:r>
                        <a:rPr lang="pl-PL" sz="3300" u="none" strike="noStrike">
                          <a:effectLst/>
                        </a:rPr>
                        <a:t>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4068388702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Siatkówka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125,7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7200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166435461"/>
                  </a:ext>
                </a:extLst>
              </a:tr>
              <a:tr h="11384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koszykowa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37,7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2160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380860784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nożna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50,3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2880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843969308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ręczna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113,1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6480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330002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50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B2FDB8-4429-972E-A3CA-83B0FDC57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Dostępne czujniki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08C0FAC-A52E-0D03-0BC4-8639097388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870497"/>
              </p:ext>
            </p:extLst>
          </p:nvPr>
        </p:nvGraphicFramePr>
        <p:xfrm>
          <a:off x="2292515" y="1966293"/>
          <a:ext cx="7606971" cy="4452176"/>
        </p:xfrm>
        <a:graphic>
          <a:graphicData uri="http://schemas.openxmlformats.org/drawingml/2006/table">
            <a:tbl>
              <a:tblPr>
                <a:tableStyleId>{69012ECD-51FC-41F1-AA8D-1B2483CD663E}</a:tableStyleId>
              </a:tblPr>
              <a:tblGrid>
                <a:gridCol w="2285698">
                  <a:extLst>
                    <a:ext uri="{9D8B030D-6E8A-4147-A177-3AD203B41FA5}">
                      <a16:colId xmlns:a16="http://schemas.microsoft.com/office/drawing/2014/main" val="2096868303"/>
                    </a:ext>
                  </a:extLst>
                </a:gridCol>
                <a:gridCol w="2371019">
                  <a:extLst>
                    <a:ext uri="{9D8B030D-6E8A-4147-A177-3AD203B41FA5}">
                      <a16:colId xmlns:a16="http://schemas.microsoft.com/office/drawing/2014/main" val="2021592566"/>
                    </a:ext>
                  </a:extLst>
                </a:gridCol>
                <a:gridCol w="2950254">
                  <a:extLst>
                    <a:ext uri="{9D8B030D-6E8A-4147-A177-3AD203B41FA5}">
                      <a16:colId xmlns:a16="http://schemas.microsoft.com/office/drawing/2014/main" val="2784358822"/>
                    </a:ext>
                  </a:extLst>
                </a:gridCol>
              </a:tblGrid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Urzadzenie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b="1" u="none" strike="noStrike" dirty="0">
                          <a:effectLst/>
                        </a:rPr>
                        <a:t>IAM-20380HT</a:t>
                      </a:r>
                      <a:endParaRPr lang="pl-PL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b="0" u="none" strike="noStrike" dirty="0">
                          <a:effectLst/>
                        </a:rPr>
                        <a:t>I3G4250DTR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6816885"/>
                  </a:ext>
                </a:extLst>
              </a:tr>
              <a:tr h="4245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Maks. Zakres FSR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±250dps, ±500dps, ±1000dps, and ±2000dps,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dirty="0"/>
                        <a:t>±245/±500/±2000 </a:t>
                      </a:r>
                      <a:r>
                        <a:rPr lang="pl-PL" sz="1200" dirty="0" err="1"/>
                        <a:t>dps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969207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Rozdzielczość ADCs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16 bit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16 bit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50320397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Odpornosc na wstrzasy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5847026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Zakres temperatur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-40°C to +105°C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-40°C to +85°C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22542714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Zasilanie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1,71V to  3,6V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2,4 V to 3,6V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5246291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Zużycie energii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2,6 </a:t>
                      </a:r>
                      <a:r>
                        <a:rPr lang="pl-PL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6,1 </a:t>
                      </a:r>
                      <a:r>
                        <a:rPr lang="pl-PL" sz="1200" u="none" strike="noStrike" dirty="0" err="1">
                          <a:effectLst/>
                        </a:rPr>
                        <a:t>mA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1881336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Interfejsy cyfrowe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5610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I2C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8043197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SPI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8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514809380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Filtry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0516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dolnoprzepustowy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44130502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górnoprzepustowy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brak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programowalny, cyfrowy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819864575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Cena: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94509478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Evaluation board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33 $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850689103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Chip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11 $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9 $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205969179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Dodatkowe cechy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61039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termometr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termometr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627437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789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8128B-F3F5-0374-DC89-A323F2926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Wykrywanie, w którym miejscu została uderzona piłka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3D8DE-712B-7F95-2B6C-2C6A8F80E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Czujniki siły nacisku</a:t>
            </a:r>
          </a:p>
          <a:p>
            <a:pPr lvl="1"/>
            <a:r>
              <a:rPr lang="pl-PL" dirty="0"/>
              <a:t>Czujniki tensometryczne – do 50 kg(tylko do mierzenia ścisku piłki)</a:t>
            </a:r>
            <a:br>
              <a:rPr lang="pl-PL" dirty="0"/>
            </a:br>
            <a:r>
              <a:rPr lang="pl-PL" dirty="0"/>
              <a:t>Wolne, statyczne zmiany siły nacisku</a:t>
            </a:r>
          </a:p>
          <a:p>
            <a:pPr lvl="1"/>
            <a:r>
              <a:rPr lang="pl-PL" dirty="0"/>
              <a:t>Czujniki piezoelektryczne – do 15kgf</a:t>
            </a:r>
            <a:br>
              <a:rPr lang="pl-PL" dirty="0"/>
            </a:br>
            <a:r>
              <a:rPr lang="pl-PL" dirty="0"/>
              <a:t>Szybkie, krótkotrwałe zmiany siły nacisku</a:t>
            </a:r>
          </a:p>
          <a:p>
            <a:pPr marL="457200" lvl="1" indent="0">
              <a:buNone/>
            </a:pPr>
            <a:endParaRPr lang="pl-PL" dirty="0"/>
          </a:p>
          <a:p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122" name="Picture 2" descr="FSR06BE">
            <a:extLst>
              <a:ext uri="{FF2B5EF4-FFF2-40B4-BE49-F238E27FC236}">
                <a16:creationId xmlns:a16="http://schemas.microsoft.com/office/drawing/2014/main" id="{60FC08A9-8065-1678-D7E5-ED04F64C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522" y="3675274"/>
            <a:ext cx="2636626" cy="263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F7252CE-47A0-1CD6-25CD-754549B2A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4853" y="2994409"/>
            <a:ext cx="3605060" cy="360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629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25" name="Rectangle 9224">
            <a:extLst>
              <a:ext uri="{FF2B5EF4-FFF2-40B4-BE49-F238E27FC236}">
                <a16:creationId xmlns:a16="http://schemas.microsoft.com/office/drawing/2014/main" id="{95B1FC96-0749-41C9-BAED-E089E7714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9A668-F129-63CA-03B4-24D98992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62856"/>
            <a:ext cx="3419856" cy="1600200"/>
          </a:xfrm>
        </p:spPr>
        <p:txBody>
          <a:bodyPr anchor="ctr">
            <a:normAutofit/>
          </a:bodyPr>
          <a:lstStyle/>
          <a:p>
            <a:r>
              <a:rPr lang="pl-PL" sz="4100"/>
              <a:t>Mikrokontroler</a:t>
            </a:r>
          </a:p>
        </p:txBody>
      </p:sp>
      <p:pic>
        <p:nvPicPr>
          <p:cNvPr id="9218" name="Picture 2" descr="ESP32 WROOM 32E — SunFounder ESP32 Starter Kit documentation">
            <a:extLst>
              <a:ext uri="{FF2B5EF4-FFF2-40B4-BE49-F238E27FC236}">
                <a16:creationId xmlns:a16="http://schemas.microsoft.com/office/drawing/2014/main" id="{A1209F50-F9D1-6CAF-A086-513095BF3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2" b="1834"/>
          <a:stretch>
            <a:fillRect/>
          </a:stretch>
        </p:blipFill>
        <p:spPr bwMode="auto">
          <a:xfrm>
            <a:off x="5" y="10"/>
            <a:ext cx="6095995" cy="4196271"/>
          </a:xfrm>
          <a:custGeom>
            <a:avLst/>
            <a:gdLst/>
            <a:ahLst/>
            <a:cxnLst/>
            <a:rect l="l" t="t" r="r" b="b"/>
            <a:pathLst>
              <a:path w="6005375" h="4196281">
                <a:moveTo>
                  <a:pt x="0" y="0"/>
                </a:moveTo>
                <a:lnTo>
                  <a:pt x="6000672" y="0"/>
                </a:lnTo>
                <a:lnTo>
                  <a:pt x="5998730" y="19709"/>
                </a:lnTo>
                <a:cubicBezTo>
                  <a:pt x="6001245" y="280059"/>
                  <a:pt x="5986415" y="540409"/>
                  <a:pt x="5999656" y="800631"/>
                </a:cubicBezTo>
                <a:cubicBezTo>
                  <a:pt x="6009855" y="1001996"/>
                  <a:pt x="6003364" y="1203233"/>
                  <a:pt x="5999656" y="1404471"/>
                </a:cubicBezTo>
                <a:cubicBezTo>
                  <a:pt x="5992506" y="1790420"/>
                  <a:pt x="6003364" y="2175860"/>
                  <a:pt x="5998730" y="2561300"/>
                </a:cubicBezTo>
                <a:cubicBezTo>
                  <a:pt x="5996744" y="2732154"/>
                  <a:pt x="5998994" y="2902754"/>
                  <a:pt x="6003364" y="3073609"/>
                </a:cubicBezTo>
                <a:cubicBezTo>
                  <a:pt x="6009720" y="3317560"/>
                  <a:pt x="5999923" y="3561638"/>
                  <a:pt x="5989197" y="3805463"/>
                </a:cubicBezTo>
                <a:cubicBezTo>
                  <a:pt x="5985594" y="3872508"/>
                  <a:pt x="5984647" y="3939633"/>
                  <a:pt x="5986348" y="4006695"/>
                </a:cubicBezTo>
                <a:lnTo>
                  <a:pt x="5997254" y="4174633"/>
                </a:lnTo>
                <a:lnTo>
                  <a:pt x="5951601" y="4176620"/>
                </a:lnTo>
                <a:cubicBezTo>
                  <a:pt x="5886702" y="4176651"/>
                  <a:pt x="5821788" y="4174749"/>
                  <a:pt x="5756905" y="4173480"/>
                </a:cubicBezTo>
                <a:cubicBezTo>
                  <a:pt x="5518559" y="4169040"/>
                  <a:pt x="5280086" y="4173480"/>
                  <a:pt x="5042247" y="4150774"/>
                </a:cubicBezTo>
                <a:cubicBezTo>
                  <a:pt x="4977618" y="4144622"/>
                  <a:pt x="4912546" y="4140690"/>
                  <a:pt x="4847600" y="4141467"/>
                </a:cubicBezTo>
                <a:cubicBezTo>
                  <a:pt x="4782655" y="4142244"/>
                  <a:pt x="4717835" y="4147730"/>
                  <a:pt x="4653713" y="4160414"/>
                </a:cubicBezTo>
                <a:cubicBezTo>
                  <a:pt x="4446571" y="4200625"/>
                  <a:pt x="4238796" y="4203162"/>
                  <a:pt x="4029497" y="4186925"/>
                </a:cubicBezTo>
                <a:cubicBezTo>
                  <a:pt x="3943621" y="4180203"/>
                  <a:pt x="3857746" y="4169040"/>
                  <a:pt x="3771489" y="4171196"/>
                </a:cubicBezTo>
                <a:cubicBezTo>
                  <a:pt x="3623585" y="4175129"/>
                  <a:pt x="3475554" y="4167137"/>
                  <a:pt x="3327523" y="4169167"/>
                </a:cubicBezTo>
                <a:cubicBezTo>
                  <a:pt x="3323528" y="4169738"/>
                  <a:pt x="3319443" y="4169205"/>
                  <a:pt x="3315727" y="4167645"/>
                </a:cubicBezTo>
                <a:cubicBezTo>
                  <a:pt x="3278941" y="4142402"/>
                  <a:pt x="3238603" y="4152169"/>
                  <a:pt x="3200549" y="4158765"/>
                </a:cubicBezTo>
                <a:cubicBezTo>
                  <a:pt x="3074082" y="4180710"/>
                  <a:pt x="2947742" y="4191492"/>
                  <a:pt x="2819246" y="4174494"/>
                </a:cubicBezTo>
                <a:cubicBezTo>
                  <a:pt x="2696546" y="4156698"/>
                  <a:pt x="2572096" y="4154478"/>
                  <a:pt x="2448851" y="4167898"/>
                </a:cubicBezTo>
                <a:cubicBezTo>
                  <a:pt x="2279383" y="4187687"/>
                  <a:pt x="2110549" y="4183501"/>
                  <a:pt x="1941462" y="4167898"/>
                </a:cubicBezTo>
                <a:cubicBezTo>
                  <a:pt x="1872837" y="4161556"/>
                  <a:pt x="1803198" y="4150774"/>
                  <a:pt x="1735208" y="4166630"/>
                </a:cubicBezTo>
                <a:cubicBezTo>
                  <a:pt x="1651489" y="4186038"/>
                  <a:pt x="1568023" y="4179695"/>
                  <a:pt x="1484050" y="4175382"/>
                </a:cubicBezTo>
                <a:cubicBezTo>
                  <a:pt x="1377752" y="4169801"/>
                  <a:pt x="1271708" y="4153692"/>
                  <a:pt x="1165029" y="4166376"/>
                </a:cubicBezTo>
                <a:cubicBezTo>
                  <a:pt x="1115685" y="4172211"/>
                  <a:pt x="1066722" y="4181471"/>
                  <a:pt x="1016744" y="4179061"/>
                </a:cubicBezTo>
                <a:cubicBezTo>
                  <a:pt x="878481" y="4172719"/>
                  <a:pt x="740344" y="4165235"/>
                  <a:pt x="601826" y="4166376"/>
                </a:cubicBezTo>
                <a:cubicBezTo>
                  <a:pt x="543857" y="4166757"/>
                  <a:pt x="486268" y="4168659"/>
                  <a:pt x="428553" y="4172845"/>
                </a:cubicBezTo>
                <a:cubicBezTo>
                  <a:pt x="320859" y="4180710"/>
                  <a:pt x="213546" y="4170055"/>
                  <a:pt x="106234" y="4166249"/>
                </a:cubicBezTo>
                <a:lnTo>
                  <a:pt x="0" y="417100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27" name="sketch line">
            <a:extLst>
              <a:ext uri="{FF2B5EF4-FFF2-40B4-BE49-F238E27FC236}">
                <a16:creationId xmlns:a16="http://schemas.microsoft.com/office/drawing/2014/main" id="{63C1A86C-B1A8-4AEC-B001-595C91716E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89020" y="5404538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1C43C-9D0C-971F-DE5B-36F362A0A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4562856"/>
            <a:ext cx="6903721" cy="1600200"/>
          </a:xfrm>
        </p:spPr>
        <p:txBody>
          <a:bodyPr anchor="ctr">
            <a:normAutofit/>
          </a:bodyPr>
          <a:lstStyle/>
          <a:p>
            <a:r>
              <a:rPr lang="pl-PL" sz="2200" dirty="0"/>
              <a:t>Wymagania:</a:t>
            </a:r>
          </a:p>
          <a:p>
            <a:pPr lvl="1"/>
            <a:r>
              <a:rPr lang="pl-PL" sz="2200" dirty="0"/>
              <a:t>Małe wymiary</a:t>
            </a:r>
          </a:p>
          <a:p>
            <a:pPr lvl="1"/>
            <a:r>
              <a:rPr lang="pl-PL" sz="2200" dirty="0"/>
              <a:t>Małe zużycie energii</a:t>
            </a:r>
          </a:p>
          <a:p>
            <a:pPr lvl="1"/>
            <a:r>
              <a:rPr lang="pl-PL" sz="2200" dirty="0"/>
              <a:t>Łączność bezprzewodowa</a:t>
            </a:r>
          </a:p>
          <a:p>
            <a:pPr lvl="1"/>
            <a:endParaRPr lang="pl-PL" sz="2200" dirty="0"/>
          </a:p>
          <a:p>
            <a:pPr lvl="1"/>
            <a:endParaRPr lang="pl-PL" sz="2200" dirty="0"/>
          </a:p>
        </p:txBody>
      </p:sp>
      <p:pic>
        <p:nvPicPr>
          <p:cNvPr id="3074" name="Picture 2" descr="Wireless STM32WBA microcontrollers supporting Bluetooth Low Energy 5.4  connectivity - STMicroelectronics">
            <a:extLst>
              <a:ext uri="{FF2B5EF4-FFF2-40B4-BE49-F238E27FC236}">
                <a16:creationId xmlns:a16="http://schemas.microsoft.com/office/drawing/2014/main" id="{2B0116A0-754F-7CE1-AF6F-FD5EA689DB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649" y="0"/>
            <a:ext cx="6610351" cy="4250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6452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18E52-0AE9-AF9B-D9E4-78B52D30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Rozwiązania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4794EB-CDB9-F0DC-4A20-66D1928BD6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0955532"/>
              </p:ext>
            </p:extLst>
          </p:nvPr>
        </p:nvGraphicFramePr>
        <p:xfrm>
          <a:off x="1187918" y="2112579"/>
          <a:ext cx="9840105" cy="40639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1582">
                  <a:extLst>
                    <a:ext uri="{9D8B030D-6E8A-4147-A177-3AD203B41FA5}">
                      <a16:colId xmlns:a16="http://schemas.microsoft.com/office/drawing/2014/main" val="1586825038"/>
                    </a:ext>
                  </a:extLst>
                </a:gridCol>
                <a:gridCol w="3343358">
                  <a:extLst>
                    <a:ext uri="{9D8B030D-6E8A-4147-A177-3AD203B41FA5}">
                      <a16:colId xmlns:a16="http://schemas.microsoft.com/office/drawing/2014/main" val="3532842696"/>
                    </a:ext>
                  </a:extLst>
                </a:gridCol>
                <a:gridCol w="4155165">
                  <a:extLst>
                    <a:ext uri="{9D8B030D-6E8A-4147-A177-3AD203B41FA5}">
                      <a16:colId xmlns:a16="http://schemas.microsoft.com/office/drawing/2014/main" val="1084786239"/>
                    </a:ext>
                  </a:extLst>
                </a:gridCol>
              </a:tblGrid>
              <a:tr h="33183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Esp</a:t>
                      </a:r>
                      <a:r>
                        <a:rPr lang="pl-P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32-WROOM-32EU</a:t>
                      </a: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r>
                        <a:rPr lang="pl-PL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STM32WBA55CG</a:t>
                      </a: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18681721"/>
                  </a:ext>
                </a:extLst>
              </a:tr>
              <a:tr h="545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Procesor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 err="1">
                          <a:effectLst/>
                        </a:rPr>
                        <a:t>Xtensa</a:t>
                      </a:r>
                      <a:r>
                        <a:rPr lang="pl-PL" sz="1500" u="none" strike="noStrike" dirty="0">
                          <a:effectLst/>
                        </a:rPr>
                        <a:t>® dual-</a:t>
                      </a:r>
                      <a:r>
                        <a:rPr lang="pl-PL" sz="1500" u="none" strike="noStrike" dirty="0" err="1">
                          <a:effectLst/>
                        </a:rPr>
                        <a:t>core</a:t>
                      </a:r>
                      <a:r>
                        <a:rPr lang="pl-PL" sz="1500" u="none" strike="noStrike" dirty="0">
                          <a:effectLst/>
                        </a:rPr>
                        <a:t> 32-bit LX6 </a:t>
                      </a:r>
                      <a:r>
                        <a:rPr lang="pl-PL" sz="1500" u="none" strike="noStrike" dirty="0" err="1">
                          <a:effectLst/>
                        </a:rPr>
                        <a:t>microprocessor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r>
                        <a:rPr lang="pl-PL" sz="15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Cortex-M33</a:t>
                      </a: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198148092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Czestotliwosc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240 MHz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100 MHz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382426477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Flash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4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1 MB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557641910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RAM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520 </a:t>
                      </a:r>
                      <a:r>
                        <a:rPr lang="pl-PL" sz="1500" u="none" strike="noStrike" dirty="0" err="1">
                          <a:effectLst/>
                        </a:rPr>
                        <a:t>kB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256 </a:t>
                      </a:r>
                      <a:r>
                        <a:rPr lang="pl-PL" sz="1500" u="none" strike="noStrike" dirty="0" err="1">
                          <a:effectLst/>
                        </a:rPr>
                        <a:t>kB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20267898"/>
                  </a:ext>
                </a:extLst>
              </a:tr>
              <a:tr h="29330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Łączność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097903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Wifi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u="none" strike="noStrike" dirty="0">
                          <a:effectLst/>
                        </a:rPr>
                        <a:t>802.11b/g/n (do 150 Mbps)</a:t>
                      </a:r>
                      <a:endParaRPr lang="pt-BR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brak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723536418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Bluetooth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u="none" strike="noStrike" dirty="0">
                          <a:effectLst/>
                        </a:rPr>
                        <a:t>Bluetooth V4.2 BR/EDR </a:t>
                      </a:r>
                      <a:r>
                        <a:rPr lang="en-US" sz="1500" u="none" strike="noStrike" dirty="0" err="1">
                          <a:effectLst/>
                        </a:rPr>
                        <a:t>i</a:t>
                      </a:r>
                      <a:r>
                        <a:rPr lang="en-US" sz="1500" u="none" strike="noStrike" dirty="0">
                          <a:effectLst/>
                        </a:rPr>
                        <a:t> Bluetooth LE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Bluetooth LE 6.0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4109873665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Wyjścia GPIO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30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35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41848838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Interfejsy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3x UART, 3x SPI, 2x I2C (2x I2S)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2x SPI/I²S/SAI/3x UART//2x I2C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950177803"/>
                  </a:ext>
                </a:extLst>
              </a:tr>
              <a:tr h="29330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Zużycie energii</a:t>
                      </a: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29432"/>
                  </a:ext>
                </a:extLst>
              </a:tr>
              <a:tr h="2933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Niski pobór mocy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</a:t>
                      </a:r>
                      <a:r>
                        <a:rPr lang="pl-PL" sz="15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 µA</a:t>
                      </a: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pl-PL" sz="15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 0.9 µA</a:t>
                      </a: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898115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Aktywna praca</a:t>
                      </a:r>
                      <a:endParaRPr lang="pl-PL" sz="15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 dirty="0">
                          <a:effectLst/>
                        </a:rPr>
                        <a:t> </a:t>
                      </a:r>
                      <a:r>
                        <a:rPr lang="pl-PL" sz="1600" dirty="0"/>
                        <a:t>20</a:t>
                      </a:r>
                      <a:r>
                        <a:rPr lang="pl-PL" sz="15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l-PL" sz="15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</a:t>
                      </a:r>
                      <a:endParaRPr lang="pl-PL" sz="15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600" dirty="0"/>
                        <a:t>3,5 </a:t>
                      </a:r>
                      <a:r>
                        <a:rPr lang="pl-PL" sz="15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</a:t>
                      </a:r>
                      <a:endParaRPr lang="pl-PL" sz="15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41030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6087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226F1-8105-AF4B-F4EE-57765E5E0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8ED50-DC4F-A99D-6AFF-B83533A53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1036674"/>
            <a:ext cx="3689096" cy="35143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Środowisko programistyczne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67A21-E396-5F4C-1EAB-DB72382C2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2" y="4582814"/>
            <a:ext cx="3689094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pl-PL" sz="20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Eclipse</a:t>
            </a:r>
            <a:r>
              <a:rPr lang="pl-PL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  </a:t>
            </a:r>
            <a:r>
              <a:rPr lang="pl-PL" sz="20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STMCube</a:t>
            </a: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</a:t>
            </a:r>
          </a:p>
        </p:txBody>
      </p:sp>
      <p:pic>
        <p:nvPicPr>
          <p:cNvPr id="4" name="Picture 2" descr="STM32CubeIDE | Software - STMicroelectronics">
            <a:extLst>
              <a:ext uri="{FF2B5EF4-FFF2-40B4-BE49-F238E27FC236}">
                <a16:creationId xmlns:a16="http://schemas.microsoft.com/office/drawing/2014/main" id="{053FE510-B449-FADD-2C43-FEE47E424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4916" y="1426229"/>
            <a:ext cx="6313170" cy="3156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758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ight Triangle 1032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7E1B3C-170C-CB80-D38B-E9BA830BE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1036674"/>
            <a:ext cx="3689096" cy="35143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Środowisko programistyczne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F0198-EE9D-6F56-640B-C259C2EA8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2" y="4582814"/>
            <a:ext cx="3689094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VS Code +  ESP-IDF </a:t>
            </a:r>
          </a:p>
        </p:txBody>
      </p:sp>
      <p:pic>
        <p:nvPicPr>
          <p:cNvPr id="1026" name="Picture 2" descr="Getting Started With ESP-IDF | Set Up Espressif IDE – RoboticWorx">
            <a:extLst>
              <a:ext uri="{FF2B5EF4-FFF2-40B4-BE49-F238E27FC236}">
                <a16:creationId xmlns:a16="http://schemas.microsoft.com/office/drawing/2014/main" id="{27401CF1-204F-A204-A18E-AB6674A1E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58843" y="1424763"/>
            <a:ext cx="4779910" cy="3441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989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824</TotalTime>
  <Words>551</Words>
  <Application>Microsoft Office PowerPoint</Application>
  <PresentationFormat>Panoramiczny</PresentationFormat>
  <Paragraphs>221</Paragraphs>
  <Slides>15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Aptos Narrow</vt:lpstr>
      <vt:lpstr>Arial</vt:lpstr>
      <vt:lpstr>Calibri</vt:lpstr>
      <vt:lpstr>Office Theme</vt:lpstr>
      <vt:lpstr>Smart-piłka</vt:lpstr>
      <vt:lpstr>Wymagania</vt:lpstr>
      <vt:lpstr>Schemat blokowy systemu</vt:lpstr>
      <vt:lpstr>Funkcjonalności</vt:lpstr>
      <vt:lpstr>Akcelerometr 3-osiowy</vt:lpstr>
      <vt:lpstr>Szacowanie wymaganych parametrów</vt:lpstr>
      <vt:lpstr>Dostępne czujniki</vt:lpstr>
      <vt:lpstr>Żyroskop 3-osiowy</vt:lpstr>
      <vt:lpstr>Wymagane parametry</vt:lpstr>
      <vt:lpstr>Dostępne czujniki</vt:lpstr>
      <vt:lpstr>Wykrywanie, w którym miejscu została uderzona piłka</vt:lpstr>
      <vt:lpstr>Mikrokontroler</vt:lpstr>
      <vt:lpstr>Rozwiązania</vt:lpstr>
      <vt:lpstr>Środowisko programistyczne</vt:lpstr>
      <vt:lpstr>Środowisko programistyczne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Szymon Mamok</dc:creator>
  <cp:lastModifiedBy>Szymon Mamok (sm312359)</cp:lastModifiedBy>
  <cp:revision>16</cp:revision>
  <dcterms:created xsi:type="dcterms:W3CDTF">2025-10-02T07:33:59Z</dcterms:created>
  <dcterms:modified xsi:type="dcterms:W3CDTF">2025-10-29T07:40:45Z</dcterms:modified>
</cp:coreProperties>
</file>